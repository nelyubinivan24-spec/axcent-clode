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4277dea15b4a89" /><Relationship Type="http://schemas.openxmlformats.org/officeDocument/2006/relationships/extended-properties" Target="/docProps/app.xml" Id="R3bed6dc051f84423" /><Relationship Type="http://schemas.openxmlformats.org/officeDocument/2006/relationships/officeDocument" Target="/ppt/presentation.xml" Id="R85889c9781c747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f70e6bc77d4bff"/>
  </p:sldMasterIdLst>
  <p:notesMasterIdLst>
    <p:notesMasterId xmlns:r="http://schemas.openxmlformats.org/officeDocument/2006/relationships" r:id="R79642bd6e6cb415d"/>
  </p:notesMasterIdLst>
  <p:sldIdLst>
    <p:sldId xmlns:r="http://schemas.openxmlformats.org/officeDocument/2006/relationships" id="256" r:id="R75bad43385dc45e3"/>
    <p:sldId xmlns:r="http://schemas.openxmlformats.org/officeDocument/2006/relationships" id="257" r:id="R8e3c1416c58f40b0"/>
    <p:sldId xmlns:r="http://schemas.openxmlformats.org/officeDocument/2006/relationships" id="258" r:id="Rad7eb91f63714107"/>
    <p:sldId xmlns:r="http://schemas.openxmlformats.org/officeDocument/2006/relationships" id="259" r:id="Rc634cafd94264095"/>
    <p:sldId xmlns:r="http://schemas.openxmlformats.org/officeDocument/2006/relationships" id="260" r:id="Rbb26c7753cdf47f4"/>
    <p:sldId xmlns:r="http://schemas.openxmlformats.org/officeDocument/2006/relationships" id="261" r:id="R5abc32fb0d2f4a2e"/>
    <p:sldId xmlns:r="http://schemas.openxmlformats.org/officeDocument/2006/relationships" id="262" r:id="Rc26f751f8dfb4341"/>
    <p:sldId xmlns:r="http://schemas.openxmlformats.org/officeDocument/2006/relationships" id="263" r:id="R9c5cbba8c7784a98"/>
    <p:sldId xmlns:r="http://schemas.openxmlformats.org/officeDocument/2006/relationships" id="264" r:id="Rcb3f445fe98647a4"/>
    <p:sldId xmlns:r="http://schemas.openxmlformats.org/officeDocument/2006/relationships" id="265" r:id="Rc1f8a9ad09ba4659"/>
    <p:sldId xmlns:r="http://schemas.openxmlformats.org/officeDocument/2006/relationships" id="266" r:id="Rcb20951f2dea4b5b"/>
    <p:sldId xmlns:r="http://schemas.openxmlformats.org/officeDocument/2006/relationships" id="267" r:id="Raae8772f59f24e18"/>
    <p:sldId xmlns:r="http://schemas.openxmlformats.org/officeDocument/2006/relationships" id="268" r:id="Rad6a97212ad84700"/>
    <p:sldId xmlns:r="http://schemas.openxmlformats.org/officeDocument/2006/relationships" id="269" r:id="R15881cb132ec47e2"/>
    <p:sldId xmlns:r="http://schemas.openxmlformats.org/officeDocument/2006/relationships" id="270" r:id="R5a1d974f5a7f4adc"/>
    <p:sldId xmlns:r="http://schemas.openxmlformats.org/officeDocument/2006/relationships" id="271" r:id="R3ea3492aa2064bfd"/>
    <p:sldId xmlns:r="http://schemas.openxmlformats.org/officeDocument/2006/relationships" id="272" r:id="R992f4667aaeb4b71"/>
    <p:sldId xmlns:r="http://schemas.openxmlformats.org/officeDocument/2006/relationships" id="273" r:id="R9548c6b44d014827"/>
    <p:sldId xmlns:r="http://schemas.openxmlformats.org/officeDocument/2006/relationships" id="274" r:id="Rb3927b46c2be4039"/>
    <p:sldId xmlns:r="http://schemas.openxmlformats.org/officeDocument/2006/relationships" id="275" r:id="Ra04c39abdff44b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4b5ae0970049db" /><Relationship Type="http://schemas.openxmlformats.org/officeDocument/2006/relationships/slideMaster" Target="/ppt/slideMasters/slideMaster1.xml" Id="Reff70e6bc77d4bff" /><Relationship Type="http://schemas.openxmlformats.org/officeDocument/2006/relationships/notesMaster" Target="/ppt/notesMasters/notesMaster1.xml" Id="R79642bd6e6cb415d" /><Relationship Type="http://schemas.openxmlformats.org/officeDocument/2006/relationships/presProps" Target="/ppt/presProps.xml" Id="Rfa7ffc68ffdf4490" /><Relationship Type="http://schemas.openxmlformats.org/officeDocument/2006/relationships/tableStyles" Target="/ppt/tableStyles.xml" Id="Rc7eb80bf582d48a5" /><Relationship Type="http://schemas.openxmlformats.org/officeDocument/2006/relationships/slide" Target="/ppt/slides/slide1.xml" Id="R75bad43385dc45e3" /><Relationship Type="http://schemas.openxmlformats.org/officeDocument/2006/relationships/slide" Target="/ppt/slides/slide2.xml" Id="R8e3c1416c58f40b0" /><Relationship Type="http://schemas.openxmlformats.org/officeDocument/2006/relationships/slide" Target="/ppt/slides/slide3.xml" Id="Rad7eb91f63714107" /><Relationship Type="http://schemas.openxmlformats.org/officeDocument/2006/relationships/slide" Target="/ppt/slides/slide4.xml" Id="Rc634cafd94264095" /><Relationship Type="http://schemas.openxmlformats.org/officeDocument/2006/relationships/slide" Target="/ppt/slides/slide5.xml" Id="Rbb26c7753cdf47f4" /><Relationship Type="http://schemas.openxmlformats.org/officeDocument/2006/relationships/slide" Target="/ppt/slides/slide6.xml" Id="R5abc32fb0d2f4a2e" /><Relationship Type="http://schemas.openxmlformats.org/officeDocument/2006/relationships/slide" Target="/ppt/slides/slide7.xml" Id="Rc26f751f8dfb4341" /><Relationship Type="http://schemas.openxmlformats.org/officeDocument/2006/relationships/slide" Target="/ppt/slides/slide8.xml" Id="R9c5cbba8c7784a98" /><Relationship Type="http://schemas.openxmlformats.org/officeDocument/2006/relationships/slide" Target="/ppt/slides/slide9.xml" Id="Rcb3f445fe98647a4" /><Relationship Type="http://schemas.openxmlformats.org/officeDocument/2006/relationships/slide" Target="/ppt/slides/slide10.xml" Id="Rc1f8a9ad09ba4659" /><Relationship Type="http://schemas.openxmlformats.org/officeDocument/2006/relationships/slide" Target="/ppt/slides/slide11.xml" Id="Rcb20951f2dea4b5b" /><Relationship Type="http://schemas.openxmlformats.org/officeDocument/2006/relationships/slide" Target="/ppt/slides/slide12.xml" Id="Raae8772f59f24e18" /><Relationship Type="http://schemas.openxmlformats.org/officeDocument/2006/relationships/slide" Target="/ppt/slides/slide13.xml" Id="Rad6a97212ad84700" /><Relationship Type="http://schemas.openxmlformats.org/officeDocument/2006/relationships/slide" Target="/ppt/slides/slide14.xml" Id="R15881cb132ec47e2" /><Relationship Type="http://schemas.openxmlformats.org/officeDocument/2006/relationships/slide" Target="/ppt/slides/slide15.xml" Id="R5a1d974f5a7f4adc" /><Relationship Type="http://schemas.openxmlformats.org/officeDocument/2006/relationships/slide" Target="/ppt/slides/slide16.xml" Id="R3ea3492aa2064bfd" /><Relationship Type="http://schemas.openxmlformats.org/officeDocument/2006/relationships/slide" Target="/ppt/slides/slide17.xml" Id="R992f4667aaeb4b71" /><Relationship Type="http://schemas.openxmlformats.org/officeDocument/2006/relationships/slide" Target="/ppt/slides/slide18.xml" Id="R9548c6b44d014827" /><Relationship Type="http://schemas.openxmlformats.org/officeDocument/2006/relationships/slide" Target="/ppt/slides/slide19.xml" Id="Rb3927b46c2be4039" /><Relationship Type="http://schemas.openxmlformats.org/officeDocument/2006/relationships/slide" Target="/ppt/slides/slide20.xml" Id="Ra04c39abdff44b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78b5f6704047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Axcend Editorial">
      <a:dk1>
        <a:srgbClr val="0F2D27"/>
      </a:dk1>
      <a:lt1>
        <a:srgbClr val="FFFFFF"/>
      </a:lt1>
      <a:dk2>
        <a:srgbClr val="163F38"/>
      </a:dk2>
      <a:lt2>
        <a:srgbClr val="F7F7F2"/>
      </a:lt2>
      <a:accent1>
        <a:srgbClr val="247B65"/>
      </a:accent1>
      <a:accent2>
        <a:srgbClr val="A94D34"/>
      </a:accent2>
      <a:accent3>
        <a:srgbClr val="C6D5BC"/>
      </a:accent3>
      <a:accent4>
        <a:srgbClr val="577B88"/>
      </a:accent4>
      <a:accent5>
        <a:srgbClr val="BCAB89"/>
      </a:accent5>
      <a:accent6>
        <a:srgbClr val="859985"/>
      </a:accent6>
      <a:hlink>
        <a:srgbClr val="247B65"/>
      </a:hlink>
      <a:folHlink>
        <a:srgbClr val="A94D34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xcend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3f7c46c808469d" /><Relationship Type="http://schemas.openxmlformats.org/officeDocument/2006/relationships/notesMaster" Target="/ppt/notesMasters/notesMaster1.xml" Id="R78c652ace87048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ea6bdeb8a24ba9" /><Relationship Type="http://schemas.openxmlformats.org/officeDocument/2006/relationships/notesMaster" Target="/ppt/notesMasters/notesMaster1.xml" Id="R693cf218250c44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b7c6bb44aa43ce" /><Relationship Type="http://schemas.openxmlformats.org/officeDocument/2006/relationships/notesMaster" Target="/ppt/notesMasters/notesMaster1.xml" Id="R538de022058e46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bd079075e34d07" /><Relationship Type="http://schemas.openxmlformats.org/officeDocument/2006/relationships/notesMaster" Target="/ppt/notesMasters/notesMaster1.xml" Id="R3be303f6798f42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819e6d8dfb4ecf" /><Relationship Type="http://schemas.openxmlformats.org/officeDocument/2006/relationships/notesMaster" Target="/ppt/notesMasters/notesMaster1.xml" Id="R9986bd84147147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7d41985f4e4306" /><Relationship Type="http://schemas.openxmlformats.org/officeDocument/2006/relationships/notesMaster" Target="/ppt/notesMasters/notesMaster1.xml" Id="R0d68acf0320a43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5290b2f6134b24" /><Relationship Type="http://schemas.openxmlformats.org/officeDocument/2006/relationships/notesMaster" Target="/ppt/notesMasters/notesMaster1.xml" Id="R4499d7ce69ac46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4a76c1cb8b4fcb" /><Relationship Type="http://schemas.openxmlformats.org/officeDocument/2006/relationships/notesMaster" Target="/ppt/notesMasters/notesMaster1.xml" Id="R8e22774e27074e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404b947b22424d" /><Relationship Type="http://schemas.openxmlformats.org/officeDocument/2006/relationships/notesMaster" Target="/ppt/notesMasters/notesMaster1.xml" Id="Re20b2323003a48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e1246fba4145fc" /><Relationship Type="http://schemas.openxmlformats.org/officeDocument/2006/relationships/notesMaster" Target="/ppt/notesMasters/notesMaster1.xml" Id="R80527d273f2b4b9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8fafe50b45d4d3e" /><Relationship Type="http://schemas.openxmlformats.org/officeDocument/2006/relationships/notesMaster" Target="/ppt/notesMasters/notesMaster1.xml" Id="R618aa1dc5cb048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fd1deb320f54da1" /><Relationship Type="http://schemas.openxmlformats.org/officeDocument/2006/relationships/notesMaster" Target="/ppt/notesMasters/notesMaster1.xml" Id="R536f77ba082043f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53ac89cee454966" /><Relationship Type="http://schemas.openxmlformats.org/officeDocument/2006/relationships/notesMaster" Target="/ppt/notesMasters/notesMaster1.xml" Id="R662ee4a058bb48a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1c319cad49b4429" /><Relationship Type="http://schemas.openxmlformats.org/officeDocument/2006/relationships/notesMaster" Target="/ppt/notesMasters/notesMaster1.xml" Id="R397d085992a24e1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5d2c632e4e9411d" /><Relationship Type="http://schemas.openxmlformats.org/officeDocument/2006/relationships/notesMaster" Target="/ppt/notesMasters/notesMaster1.xml" Id="R2f727c9d1f0f4ae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3c1da21ed1741cc" /><Relationship Type="http://schemas.openxmlformats.org/officeDocument/2006/relationships/notesMaster" Target="/ppt/notesMasters/notesMaster1.xml" Id="R1eebc3fa07474a3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2c69e9e59e04404" /><Relationship Type="http://schemas.openxmlformats.org/officeDocument/2006/relationships/notesMaster" Target="/ppt/notesMasters/notesMaster1.xml" Id="R9ef5751a2094424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35a29dd2c494e22" /><Relationship Type="http://schemas.openxmlformats.org/officeDocument/2006/relationships/notesMaster" Target="/ppt/notesMasters/notesMaster1.xml" Id="R95a89d35fbc8465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fc2c0c7c3c44184" /><Relationship Type="http://schemas.openxmlformats.org/officeDocument/2006/relationships/notesMaster" Target="/ppt/notesMasters/notesMaster1.xml" Id="R21f79bdde5c4466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ffb4075197b44a1" /><Relationship Type="http://schemas.openxmlformats.org/officeDocument/2006/relationships/notesMaster" Target="/ppt/notesMasters/notesMaster1.xml" Id="Rb5b6d50efb3e49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Axcend_Detailed_RU.pdf, страница 1. Пример COVOYA со страницы 1 сохранён на страницах 3 и 5.</a:t>
            </a:r>
          </a:p>
          <a:p xmlns:a="http://schemas.openxmlformats.org/drawingml/2006/main">
            <a:r>
              <a:t>Иллюстрация порта создана с ImageGen для этой презентации. Это концептуальное изображение, не фотография конкретного порта или операции.</a:t>
            </a:r>
          </a:p>
          <a:p xmlns:a="http://schemas.openxmlformats.org/drawingml/2006/main">
            <a:r>
              <a:t>Axcend</a:t>
            </a:r>
          </a:p>
          <a:p xmlns:a="http://schemas.openxmlformats.org/drawingml/2006/main">
            <a:r>
              <a:t>C01 / 28.08.2026</a:t>
            </a:r>
          </a:p>
          <a:p xmlns:a="http://schemas.openxmlformats.org/drawingml/2006/main">
            <a:r>
              <a:t>1 / 20</a:t>
            </a:r>
          </a:p>
          <a:p xmlns:a="http://schemas.openxmlformats.org/drawingml/2006/main">
            <a:r>
              <a:t>Находите возможности</a:t>
            </a:r>
          </a:p>
          <a:p xmlns:a="http://schemas.openxmlformats.org/drawingml/2006/main">
            <a:r>
              <a:t>для сделок в данных</a:t>
            </a:r>
          </a:p>
          <a:p xmlns:a="http://schemas.openxmlformats.org/drawingml/2006/main">
            <a:r>
              <a:t>мировой торговли</a:t>
            </a:r>
          </a:p>
          <a:p xmlns:a="http://schemas.openxmlformats.org/drawingml/2006/main">
            <a:r>
              <a:t>Самостоятельный доступ к платформе данных и</a:t>
            </a:r>
          </a:p>
          <a:p xmlns:a="http://schemas.openxmlformats.org/drawingml/2006/main">
            <a:r>
              <a:t>аналитики мировой торговли</a:t>
            </a:r>
          </a:p>
          <a:p xmlns:a="http://schemas.openxmlformats.org/drawingml/2006/main">
            <a:r>
              <a:t>Выбирайте клиентов, поставщиков и следующий</a:t>
            </a:r>
          </a:p>
          <a:p xmlns:a="http://schemas.openxmlformats.org/drawingml/2006/main">
            <a:r>
              <a:t>коммерческий шаг.</a:t>
            </a:r>
          </a:p>
          <a:p xmlns:a="http://schemas.openxmlformats.org/drawingml/2006/main">
            <a:r>
              <a:t>$500 в месяц</a:t>
            </a:r>
          </a:p>
          <a:p xmlns:a="http://schemas.openxmlformats.org/drawingml/2006/main">
            <a:r>
              <a:t>Полный доступ к информации платформы</a:t>
            </a:r>
          </a:p>
          <a:p xmlns:a="http://schemas.openxmlformats.org/drawingml/2006/main">
            <a:r>
              <a:t>COVOYA LTD.</a:t>
            </a:r>
          </a:p>
          <a:p xmlns:a="http://schemas.openxmlformats.org/drawingml/2006/main">
            <a:r>
              <a:t>Кофе из Руанды</a:t>
            </a:r>
          </a:p>
          <a:p xmlns:a="http://schemas.openxmlformats.org/drawingml/2006/main">
            <a:r>
              <a:t>Направление: США</a:t>
            </a:r>
          </a:p>
          <a:p xmlns:a="http://schemas.openxmlformats.org/drawingml/2006/main">
            <a:r>
              <a:t>19,32 т</a:t>
            </a:r>
          </a:p>
          <a:p xmlns:a="http://schemas.openxmlformats.org/drawingml/2006/main">
            <a:r>
              <a:t>Запись от 28 августа 2026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приложенная презентация Axcend_Detailed_RU.pdf, страница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Axcend</a:t>
            </a:r>
          </a:p>
          <a:p xmlns:a="http://schemas.openxmlformats.org/drawingml/2006/main">
            <a:r>
              <a:t>Вы покупаете самостоятельный доступ</a:t>
            </a:r>
          </a:p>
          <a:p xmlns:a="http://schemas.openxmlformats.org/drawingml/2006/main">
            <a:r>
              <a:t>Данные и аналитика международной торговли</a:t>
            </a:r>
          </a:p>
          <a:p xmlns:a="http://schemas.openxmlformats.org/drawingml/2006/main">
            <a:r>
              <a:t>2 / 20</a:t>
            </a:r>
          </a:p>
          <a:p xmlns:a="http://schemas.openxmlformats.org/drawingml/2006/main">
            <a:r>
              <a:t>Платформа объединяет поиск операций, торговые связи и аналитику.</a:t>
            </a:r>
          </a:p>
          <a:p xmlns:a="http://schemas.openxmlformats.org/drawingml/2006/main">
            <a:r>
              <a:t>Ваш запрос</a:t>
            </a:r>
          </a:p>
          <a:p xmlns:a="http://schemas.openxmlformats.org/drawingml/2006/main">
            <a:r>
              <a:t>Компания или</a:t>
            </a:r>
          </a:p>
          <a:p xmlns:a="http://schemas.openxmlformats.org/drawingml/2006/main">
            <a:r>
              <a:t>товар</a:t>
            </a:r>
          </a:p>
          <a:p xmlns:a="http://schemas.openxmlformats.org/drawingml/2006/main">
            <a:r>
              <a:t>Записи и связи</a:t>
            </a:r>
          </a:p>
          <a:p xmlns:a="http://schemas.openxmlformats.org/drawingml/2006/main">
            <a:r>
              <a:t>Кто, что, у кого</a:t>
            </a:r>
          </a:p>
          <a:p xmlns:a="http://schemas.openxmlformats.org/drawingml/2006/main">
            <a:r>
              <a:t>Анализ</a:t>
            </a:r>
          </a:p>
          <a:p xmlns:a="http://schemas.openxmlformats.org/drawingml/2006/main">
            <a:r>
              <a:t>Цена, объём,</a:t>
            </a:r>
          </a:p>
          <a:p xmlns:a="http://schemas.openxmlformats.org/drawingml/2006/main">
            <a:r>
              <a:t>динамика</a:t>
            </a:r>
          </a:p>
          <a:p xmlns:a="http://schemas.openxmlformats.org/drawingml/2006/main">
            <a:r>
              <a:t>Вы сами выбираете, что исследовать: покупателя, конкурента, поставщика или товарное</a:t>
            </a:r>
          </a:p>
          <a:p xmlns:a="http://schemas.openxmlformats.org/drawingml/2006/main">
            <a:r>
              <a:t>направление.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приложенная презентация Axcend_Detailed_RU.pdf, страница 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Axcend</a:t>
            </a:r>
          </a:p>
          <a:p xmlns:a="http://schemas.openxmlformats.org/drawingml/2006/main">
            <a:r>
              <a:t>Одна запись раскрывает конкретную закупку</a:t>
            </a:r>
          </a:p>
          <a:p xmlns:a="http://schemas.openxmlformats.org/drawingml/2006/main">
            <a:r>
              <a:t>C01 / 28.08.2026</a:t>
            </a:r>
          </a:p>
          <a:p xmlns:a="http://schemas.openxmlformats.org/drawingml/2006/main">
            <a:r>
              <a:t>3 / 20</a:t>
            </a:r>
          </a:p>
          <a:p xmlns:a="http://schemas.openxmlformats.org/drawingml/2006/main">
            <a:r>
              <a:t>Пример записи в платформе: кофе Arabica. Происхождение: Руанда. Направление: США.</a:t>
            </a:r>
          </a:p>
          <a:p xmlns:a="http://schemas.openxmlformats.org/drawingml/2006/main">
            <a:r>
              <a:t>DAVID &amp; FAMILY LTD.</a:t>
            </a:r>
          </a:p>
          <a:p xmlns:a="http://schemas.openxmlformats.org/drawingml/2006/main">
            <a:r>
              <a:t>COVOYA LTD.</a:t>
            </a:r>
          </a:p>
          <a:p xmlns:a="http://schemas.openxmlformats.org/drawingml/2006/main">
            <a:r>
              <a:t>Вес</a:t>
            </a:r>
          </a:p>
          <a:p xmlns:a="http://schemas.openxmlformats.org/drawingml/2006/main">
            <a:r>
              <a:t>19,32 т</a:t>
            </a:r>
          </a:p>
          <a:p xmlns:a="http://schemas.openxmlformats.org/drawingml/2006/main">
            <a:r>
              <a:t>Стоимость операции</a:t>
            </a:r>
          </a:p>
          <a:p xmlns:a="http://schemas.openxmlformats.org/drawingml/2006/main">
            <a:r>
              <a:t>$172 068</a:t>
            </a:r>
          </a:p>
          <a:p xmlns:a="http://schemas.openxmlformats.org/drawingml/2006/main">
            <a:r>
              <a:t>Дата</a:t>
            </a:r>
          </a:p>
          <a:p xmlns:a="http://schemas.openxmlformats.org/drawingml/2006/main">
            <a:r>
              <a:t>28.08.2026</a:t>
            </a:r>
          </a:p>
          <a:p xmlns:a="http://schemas.openxmlformats.org/drawingml/2006/main">
            <a:r>
              <a:t>Видны покупатель, поставщик и масштаб операции. Это отправная точка для изучения</a:t>
            </a:r>
          </a:p>
          <a:p xmlns:a="http://schemas.openxmlformats.org/drawingml/2006/main">
            <a:r>
              <a:t>клиента.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приложенная презентация Axcend_Detailed_RU.pdf, страница 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Axcend</a:t>
            </a:r>
          </a:p>
          <a:p xmlns:a="http://schemas.openxmlformats.org/drawingml/2006/main">
            <a:r>
              <a:t>Компания в контексте её торговли</a:t>
            </a:r>
          </a:p>
          <a:p xmlns:a="http://schemas.openxmlformats.org/drawingml/2006/main">
            <a:r>
              <a:t>Данные и аналитика международной торговли</a:t>
            </a:r>
          </a:p>
          <a:p xmlns:a="http://schemas.openxmlformats.org/drawingml/2006/main">
            <a:r>
              <a:t>4 / 20</a:t>
            </a:r>
          </a:p>
          <a:p xmlns:a="http://schemas.openxmlformats.org/drawingml/2006/main">
            <a:r>
              <a:t>Компания</a:t>
            </a:r>
          </a:p>
          <a:p xmlns:a="http://schemas.openxmlformats.org/drawingml/2006/main">
            <a:r>
              <a:t>и её операции</a:t>
            </a:r>
          </a:p>
          <a:p xmlns:a="http://schemas.openxmlformats.org/drawingml/2006/main">
            <a:r>
              <a:t>Покупатели</a:t>
            </a:r>
          </a:p>
          <a:p xmlns:a="http://schemas.openxmlformats.org/drawingml/2006/main">
            <a:r>
              <a:t>и поставщики</a:t>
            </a:r>
          </a:p>
          <a:p xmlns:a="http://schemas.openxmlformats.org/drawingml/2006/main">
            <a:r>
              <a:t>Товар</a:t>
            </a:r>
          </a:p>
          <a:p xmlns:a="http://schemas.openxmlformats.org/drawingml/2006/main">
            <a:r>
              <a:t>и код ТН ВЭД</a:t>
            </a:r>
          </a:p>
          <a:p xmlns:a="http://schemas.openxmlformats.org/drawingml/2006/main">
            <a:r>
              <a:t>Даты</a:t>
            </a:r>
          </a:p>
          <a:p xmlns:a="http://schemas.openxmlformats.org/drawingml/2006/main">
            <a:r>
              <a:t>и повторяемость</a:t>
            </a:r>
          </a:p>
          <a:p xmlns:a="http://schemas.openxmlformats.org/drawingml/2006/main">
            <a:r>
              <a:t>Цена, объём</a:t>
            </a:r>
          </a:p>
          <a:p xmlns:a="http://schemas.openxmlformats.org/drawingml/2006/main">
            <a:r>
              <a:t>и география</a:t>
            </a:r>
          </a:p>
          <a:p xmlns:a="http://schemas.openxmlformats.org/drawingml/2006/main">
            <a:r>
              <a:t>Связь между полями помогает понять, кому и с каким предложением обращаться.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приложенная презентация Axcend_Detailed_RU.pdf, страница 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Axcend</a:t>
            </a:r>
          </a:p>
          <a:p xmlns:a="http://schemas.openxmlformats.org/drawingml/2006/main">
            <a:r>
              <a:t>Новые покупатели вашего товара</a:t>
            </a:r>
          </a:p>
          <a:p xmlns:a="http://schemas.openxmlformats.org/drawingml/2006/main">
            <a:r>
              <a:t>C01 / 19–28.08.2026</a:t>
            </a:r>
          </a:p>
          <a:p xmlns:a="http://schemas.openxmlformats.org/drawingml/2006/main">
            <a:r>
              <a:t>5 / 20</a:t>
            </a:r>
          </a:p>
          <a:p xmlns:a="http://schemas.openxmlformats.org/drawingml/2006/main">
            <a:r>
              <a:t>Кофе на направлении США: четыре компании из реальных записей.</a:t>
            </a:r>
          </a:p>
          <a:p xmlns:a="http://schemas.openxmlformats.org/drawingml/2006/main">
            <a:r>
              <a:t>Покупатель</a:t>
            </a:r>
          </a:p>
          <a:p xmlns:a="http://schemas.openxmlformats.org/drawingml/2006/main">
            <a:r>
              <a:t>Вес, т</a:t>
            </a:r>
          </a:p>
          <a:p xmlns:a="http://schemas.openxmlformats.org/drawingml/2006/main">
            <a:r>
              <a:t>Дата</a:t>
            </a:r>
          </a:p>
          <a:p xmlns:a="http://schemas.openxmlformats.org/drawingml/2006/main">
            <a:r>
              <a:t>COVOYA LTD.</a:t>
            </a:r>
          </a:p>
          <a:p xmlns:a="http://schemas.openxmlformats.org/drawingml/2006/main">
            <a:r>
              <a:t>19,32</a:t>
            </a:r>
          </a:p>
          <a:p xmlns:a="http://schemas.openxmlformats.org/drawingml/2006/main">
            <a:r>
              <a:t>28.08.2026</a:t>
            </a:r>
          </a:p>
          <a:p xmlns:a="http://schemas.openxmlformats.org/drawingml/2006/main">
            <a:r>
              <a:t>RTC DORMAN LIMITED COMPANY</a:t>
            </a:r>
          </a:p>
          <a:p xmlns:a="http://schemas.openxmlformats.org/drawingml/2006/main">
            <a:r>
              <a:t>76,80</a:t>
            </a:r>
          </a:p>
          <a:p xmlns:a="http://schemas.openxmlformats.org/drawingml/2006/main">
            <a:r>
              <a:t>27.08.2026</a:t>
            </a:r>
          </a:p>
          <a:p xmlns:a="http://schemas.openxmlformats.org/drawingml/2006/main">
            <a:r>
              <a:t>OSITO COFFEE LLC</a:t>
            </a:r>
          </a:p>
          <a:p xmlns:a="http://schemas.openxmlformats.org/drawingml/2006/main">
            <a:r>
              <a:t>19,52</a:t>
            </a:r>
          </a:p>
          <a:p xmlns:a="http://schemas.openxmlformats.org/drawingml/2006/main">
            <a:r>
              <a:t>20.08.2026</a:t>
            </a:r>
          </a:p>
          <a:p xmlns:a="http://schemas.openxmlformats.org/drawingml/2006/main">
            <a:r>
              <a:t>CAFE IMPORTS</a:t>
            </a:r>
          </a:p>
          <a:p xmlns:a="http://schemas.openxmlformats.org/drawingml/2006/main">
            <a:r>
              <a:t>19,20</a:t>
            </a:r>
          </a:p>
          <a:p xmlns:a="http://schemas.openxmlformats.org/drawingml/2006/main">
            <a:r>
              <a:t>19.08.2026</a:t>
            </a:r>
          </a:p>
          <a:p xmlns:a="http://schemas.openxmlformats.org/drawingml/2006/main">
            <a:r>
              <a:t>Выберите компании под свой ассортимент и объём поставки. Затем изучите историю</a:t>
            </a:r>
          </a:p>
          <a:p xmlns:a="http://schemas.openxmlformats.org/drawingml/2006/main">
            <a:r>
              <a:t>каждого покупателя.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приложенная презентация Axcend_Detailed_RU.pdf, страница 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Axcend</a:t>
            </a:r>
          </a:p>
          <a:p xmlns:a="http://schemas.openxmlformats.org/drawingml/2006/main">
            <a:r>
              <a:t>Как меняются поставки конкурента</a:t>
            </a:r>
          </a:p>
          <a:p xmlns:a="http://schemas.openxmlformats.org/drawingml/2006/main">
            <a:r>
              <a:t>C02 / 01–06.2026; 21.09.2026</a:t>
            </a:r>
          </a:p>
          <a:p xmlns:a="http://schemas.openxmlformats.org/drawingml/2006/main">
            <a:r>
              <a:t>6 / 20</a:t>
            </a:r>
          </a:p>
          <a:p xmlns:a="http://schemas.openxmlformats.org/drawingml/2006/main">
            <a:r>
              <a:t>LUIGI LAVAZZA S.P.A.</a:t>
            </a:r>
          </a:p>
          <a:p xmlns:a="http://schemas.openxmlformats.org/drawingml/2006/main">
            <a:r>
              <a:t>Направление США. Вес, млн кг. Январь–июнь 2026.</a:t>
            </a:r>
          </a:p>
          <a:p xmlns:a="http://schemas.openxmlformats.org/drawingml/2006/main">
            <a:r>
              <a:t>0,63</a:t>
            </a:r>
          </a:p>
          <a:p xmlns:a="http://schemas.openxmlformats.org/drawingml/2006/main">
            <a:r>
              <a:t>Янв</a:t>
            </a:r>
          </a:p>
          <a:p xmlns:a="http://schemas.openxmlformats.org/drawingml/2006/main">
            <a:r>
              <a:t>0,85</a:t>
            </a:r>
          </a:p>
          <a:p xmlns:a="http://schemas.openxmlformats.org/drawingml/2006/main">
            <a:r>
              <a:t>Фев</a:t>
            </a:r>
          </a:p>
          <a:p xmlns:a="http://schemas.openxmlformats.org/drawingml/2006/main">
            <a:r>
              <a:t>0,91</a:t>
            </a:r>
          </a:p>
          <a:p xmlns:a="http://schemas.openxmlformats.org/drawingml/2006/main">
            <a:r>
              <a:t>Мар</a:t>
            </a:r>
          </a:p>
          <a:p xmlns:a="http://schemas.openxmlformats.org/drawingml/2006/main">
            <a:r>
              <a:t>1,24</a:t>
            </a:r>
          </a:p>
          <a:p xmlns:a="http://schemas.openxmlformats.org/drawingml/2006/main">
            <a:r>
              <a:t>Апр</a:t>
            </a:r>
          </a:p>
          <a:p xmlns:a="http://schemas.openxmlformats.org/drawingml/2006/main">
            <a:r>
              <a:t>1,23</a:t>
            </a:r>
          </a:p>
          <a:p xmlns:a="http://schemas.openxmlformats.org/drawingml/2006/main">
            <a:r>
              <a:t>Май</a:t>
            </a:r>
          </a:p>
          <a:p xmlns:a="http://schemas.openxmlformats.org/drawingml/2006/main">
            <a:r>
              <a:t>1,55</a:t>
            </a:r>
          </a:p>
          <a:p xmlns:a="http://schemas.openxmlformats.org/drawingml/2006/main">
            <a:r>
              <a:t>Июн</a:t>
            </a:r>
          </a:p>
          <a:p xmlns:a="http://schemas.openxmlformats.org/drawingml/2006/main">
            <a:r>
              <a:t>В истории виден получатель LAVAZZA NORTH AMERICA INC. Изучайте канал поставок и</a:t>
            </a:r>
          </a:p>
          <a:p xmlns:a="http://schemas.openxmlformats.org/drawingml/2006/main">
            <a:r>
              <a:t>изменение объёмов.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приложенная презентация Axcend_Detailed_RU.pdf, страница 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Axcend</a:t>
            </a:r>
          </a:p>
          <a:p xmlns:a="http://schemas.openxmlformats.org/drawingml/2006/main">
            <a:r>
              <a:t>Альтернативные поставщики PET</a:t>
            </a:r>
          </a:p>
          <a:p xmlns:a="http://schemas.openxmlformats.org/drawingml/2006/main">
            <a:r>
              <a:t>C03 / 31.08–01.09.2026</a:t>
            </a:r>
          </a:p>
          <a:p xmlns:a="http://schemas.openxmlformats.org/drawingml/2006/main">
            <a:r>
              <a:t>7 / 20</a:t>
            </a:r>
          </a:p>
          <a:p xmlns:a="http://schemas.openxmlformats.org/drawingml/2006/main">
            <a:r>
              <a:t>Код ТН ВЭД 390761. В записях на направлении Индии видны поставщики из трёх стран.</a:t>
            </a:r>
          </a:p>
          <a:p xmlns:a="http://schemas.openxmlformats.org/drawingml/2006/main">
            <a:r>
              <a:t>Поставщик</a:t>
            </a:r>
          </a:p>
          <a:p xmlns:a="http://schemas.openxmlformats.org/drawingml/2006/main">
            <a:r>
              <a:t>Происхождение</a:t>
            </a:r>
          </a:p>
          <a:p xmlns:a="http://schemas.openxmlformats.org/drawingml/2006/main">
            <a:r>
              <a:t>Вес, т</a:t>
            </a:r>
          </a:p>
          <a:p xmlns:a="http://schemas.openxmlformats.org/drawingml/2006/main">
            <a:r>
              <a:t>PT. BUMI INDUS PADMA JAYA</a:t>
            </a:r>
          </a:p>
          <a:p xmlns:a="http://schemas.openxmlformats.org/drawingml/2006/main">
            <a:r>
              <a:t>Индонезия</a:t>
            </a:r>
          </a:p>
          <a:p xmlns:a="http://schemas.openxmlformats.org/drawingml/2006/main">
            <a:r>
              <a:t>92</a:t>
            </a:r>
          </a:p>
          <a:p xmlns:a="http://schemas.openxmlformats.org/drawingml/2006/main">
            <a:r>
              <a:t>BILLION INDUSTRIAL (VIETNAM) CO.,LTD.</a:t>
            </a:r>
          </a:p>
          <a:p xmlns:a="http://schemas.openxmlformats.org/drawingml/2006/main">
            <a:r>
              <a:t>Вьетнам</a:t>
            </a:r>
          </a:p>
          <a:p xmlns:a="http://schemas.openxmlformats.org/drawingml/2006/main">
            <a:r>
              <a:t>46</a:t>
            </a:r>
          </a:p>
          <a:p xmlns:a="http://schemas.openxmlformats.org/drawingml/2006/main">
            <a:r>
              <a:t>HAOSHENG VINA CO.,LTD.</a:t>
            </a:r>
          </a:p>
          <a:p xmlns:a="http://schemas.openxmlformats.org/drawingml/2006/main">
            <a:r>
              <a:t>Вьетнам</a:t>
            </a:r>
          </a:p>
          <a:p xmlns:a="http://schemas.openxmlformats.org/drawingml/2006/main">
            <a:r>
              <a:t>115</a:t>
            </a:r>
          </a:p>
          <a:p xmlns:a="http://schemas.openxmlformats.org/drawingml/2006/main">
            <a:r>
              <a:t>MEGHNA PVC LIMITED</a:t>
            </a:r>
          </a:p>
          <a:p xmlns:a="http://schemas.openxmlformats.org/drawingml/2006/main">
            <a:r>
              <a:t>Бангладеш</a:t>
            </a:r>
          </a:p>
          <a:p xmlns:a="http://schemas.openxmlformats.org/drawingml/2006/main">
            <a:r>
              <a:t>11</a:t>
            </a:r>
          </a:p>
          <a:p xmlns:a="http://schemas.openxmlformats.org/drawingml/2006/main">
            <a:r>
              <a:t>Составьте список источников и запросите предложения по нужной марке PET и размеру</a:t>
            </a:r>
          </a:p>
          <a:p xmlns:a="http://schemas.openxmlformats.org/drawingml/2006/main">
            <a:r>
              <a:t>партии.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Axcend_Detailed_RU.pdf, страница 8.</a:t>
            </a:r>
          </a:p>
          <a:p xmlns:a="http://schemas.openxmlformats.org/drawingml/2006/main">
            <a:r>
              <a:t>Изображение создано с ImageGen и иллюстрирует товарные категории. Оно не изображает продукцию Tramontina или конкретную поставку.</a:t>
            </a:r>
          </a:p>
          <a:p xmlns:a="http://schemas.openxmlformats.org/drawingml/2006/main">
            <a:r>
              <a:t>Axcend</a:t>
            </a:r>
          </a:p>
          <a:p xmlns:a="http://schemas.openxmlformats.org/drawingml/2006/main">
            <a:r>
              <a:t>Что ещё предложить выбранному клиенту</a:t>
            </a:r>
          </a:p>
          <a:p xmlns:a="http://schemas.openxmlformats.org/drawingml/2006/main">
            <a:r>
              <a:t>C04 / 01.07.2026</a:t>
            </a:r>
          </a:p>
          <a:p xmlns:a="http://schemas.openxmlformats.org/drawingml/2006/main">
            <a:r>
              <a:t>8 / 20</a:t>
            </a:r>
          </a:p>
          <a:p xmlns:a="http://schemas.openxmlformats.org/drawingml/2006/main">
            <a:r>
              <a:t>TRAMONTINA GARIBALDI S.A.</a:t>
            </a:r>
          </a:p>
          <a:p xmlns:a="http://schemas.openxmlformats.org/drawingml/2006/main">
            <a:r>
              <a:t>В одном товарном описании присутствуют связанные категории.</a:t>
            </a:r>
          </a:p>
          <a:p xmlns:a="http://schemas.openxmlformats.org/drawingml/2006/main">
            <a:r>
              <a:t>Аккумуляторные</a:t>
            </a:r>
          </a:p>
          <a:p xmlns:a="http://schemas.openxmlformats.org/drawingml/2006/main">
            <a:r>
              <a:t>инструменты</a:t>
            </a:r>
          </a:p>
          <a:p xmlns:a="http://schemas.openxmlformats.org/drawingml/2006/main">
            <a:r>
              <a:t>Литийионные</a:t>
            </a:r>
          </a:p>
          <a:p xmlns:a="http://schemas.openxmlformats.org/drawingml/2006/main">
            <a:r>
              <a:t>аккумуляторы</a:t>
            </a:r>
          </a:p>
          <a:p xmlns:a="http://schemas.openxmlformats.org/drawingml/2006/main">
            <a:r>
              <a:t>Зарядные</a:t>
            </a:r>
          </a:p>
          <a:p xmlns:a="http://schemas.openxmlformats.org/drawingml/2006/main">
            <a:r>
              <a:t>устройства</a:t>
            </a:r>
          </a:p>
          <a:p xmlns:a="http://schemas.openxmlformats.org/drawingml/2006/main">
            <a:r>
              <a:t>Поставщик инструментов или комплектующих может подготовить предложение по</a:t>
            </a:r>
          </a:p>
          <a:p xmlns:a="http://schemas.openxmlformats.org/drawingml/2006/main">
            <a:r>
              <a:t>смежному ассортименту.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приложенная презентация Axcend_Detailed_RU.pdf, страница 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Axcend</a:t>
            </a:r>
          </a:p>
          <a:p xmlns:a="http://schemas.openxmlformats.org/drawingml/2006/main">
            <a:r>
              <a:t>Цена в контексте партии</a:t>
            </a:r>
          </a:p>
          <a:p xmlns:a="http://schemas.openxmlformats.org/drawingml/2006/main">
            <a:r>
              <a:t>C05 / 31.08.2026</a:t>
            </a:r>
          </a:p>
          <a:p xmlns:a="http://schemas.openxmlformats.org/drawingml/2006/main">
            <a:r>
              <a:t>9 / 20</a:t>
            </a:r>
          </a:p>
          <a:p xmlns:a="http://schemas.openxmlformats.org/drawingml/2006/main">
            <a:r>
              <a:t>PET P633-2, bottle AA grade. Вьетнам / Индия.</a:t>
            </a:r>
          </a:p>
          <a:p xmlns:a="http://schemas.openxmlformats.org/drawingml/2006/main">
            <a:r>
              <a:t>$1,095/кг</a:t>
            </a:r>
          </a:p>
          <a:p xmlns:a="http://schemas.openxmlformats.org/drawingml/2006/main">
            <a:r>
              <a:t>Одинаковая цена в трёх записях</a:t>
            </a:r>
          </a:p>
          <a:p xmlns:a="http://schemas.openxmlformats.org/drawingml/2006/main">
            <a:r>
              <a:t>с разным объёмом.</a:t>
            </a:r>
          </a:p>
          <a:p xmlns:a="http://schemas.openxmlformats.org/drawingml/2006/main">
            <a:r>
              <a:t>Вес, т</a:t>
            </a:r>
          </a:p>
          <a:p xmlns:a="http://schemas.openxmlformats.org/drawingml/2006/main">
            <a:r>
              <a:t>Цена, $/кг</a:t>
            </a:r>
          </a:p>
          <a:p xmlns:a="http://schemas.openxmlformats.org/drawingml/2006/main">
            <a:r>
              <a:t>Стоимость, $</a:t>
            </a:r>
          </a:p>
          <a:p xmlns:a="http://schemas.openxmlformats.org/drawingml/2006/main">
            <a:r>
              <a:t>46</a:t>
            </a:r>
          </a:p>
          <a:p xmlns:a="http://schemas.openxmlformats.org/drawingml/2006/main">
            <a:r>
              <a:t>1,095</a:t>
            </a:r>
          </a:p>
          <a:p xmlns:a="http://schemas.openxmlformats.org/drawingml/2006/main">
            <a:r>
              <a:t>50 370</a:t>
            </a:r>
          </a:p>
          <a:p xmlns:a="http://schemas.openxmlformats.org/drawingml/2006/main">
            <a:r>
              <a:t>69</a:t>
            </a:r>
          </a:p>
          <a:p xmlns:a="http://schemas.openxmlformats.org/drawingml/2006/main">
            <a:r>
              <a:t>1,095</a:t>
            </a:r>
          </a:p>
          <a:p xmlns:a="http://schemas.openxmlformats.org/drawingml/2006/main">
            <a:r>
              <a:t>75 555</a:t>
            </a:r>
          </a:p>
          <a:p xmlns:a="http://schemas.openxmlformats.org/drawingml/2006/main">
            <a:r>
              <a:t>115</a:t>
            </a:r>
          </a:p>
          <a:p xmlns:a="http://schemas.openxmlformats.org/drawingml/2006/main">
            <a:r>
              <a:t>1,095</a:t>
            </a:r>
          </a:p>
          <a:p xmlns:a="http://schemas.openxmlformats.org/drawingml/2006/main">
            <a:r>
              <a:t>125 925</a:t>
            </a:r>
          </a:p>
          <a:p xmlns:a="http://schemas.openxmlformats.org/drawingml/2006/main">
            <a:r>
              <a:t>Обсудите с поставщиком конкретную марку, объём и ценовой ориентир для нового</a:t>
            </a:r>
          </a:p>
          <a:p xmlns:a="http://schemas.openxmlformats.org/drawingml/2006/main">
            <a:r>
              <a:t>предложения.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приложенная презентация Axcend_Detailed_RU.pdf, страница 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Axcend</a:t>
            </a:r>
          </a:p>
          <a:p xmlns:a="http://schemas.openxmlformats.org/drawingml/2006/main">
            <a:r>
              <a:t>Сравнение направлений развития</a:t>
            </a:r>
          </a:p>
          <a:p xmlns:a="http://schemas.openxmlformats.org/drawingml/2006/main">
            <a:r>
              <a:t>C06 / 01–06.2026 / HS 854143</a:t>
            </a:r>
          </a:p>
          <a:p xmlns:a="http://schemas.openxmlformats.org/drawingml/2006/main">
            <a:r>
              <a:t>10 / 20</a:t>
            </a:r>
          </a:p>
          <a:p xmlns:a="http://schemas.openxmlformats.org/drawingml/2006/main">
            <a:r>
              <a:t>Импорт солнечных модулей из Китая. Январь–июнь 2026.</a:t>
            </a:r>
          </a:p>
          <a:p xmlns:a="http://schemas.openxmlformats.org/drawingml/2006/main">
            <a:r>
              <a:t>Стоимость CIF, млн долларов США</a:t>
            </a:r>
          </a:p>
          <a:p xmlns:a="http://schemas.openxmlformats.org/drawingml/2006/main">
            <a:r>
              <a:t>Чили</a:t>
            </a:r>
          </a:p>
          <a:p xmlns:a="http://schemas.openxmlformats.org/drawingml/2006/main">
            <a:r>
              <a:t>31,28</a:t>
            </a:r>
          </a:p>
          <a:p xmlns:a="http://schemas.openxmlformats.org/drawingml/2006/main">
            <a:r>
              <a:t>Мексика</a:t>
            </a:r>
          </a:p>
          <a:p xmlns:a="http://schemas.openxmlformats.org/drawingml/2006/main">
            <a:r>
              <a:t>85,84</a:t>
            </a:r>
          </a:p>
          <a:p xmlns:a="http://schemas.openxmlformats.org/drawingml/2006/main">
            <a:r>
              <a:t>Бразилия</a:t>
            </a:r>
          </a:p>
          <a:p xmlns:a="http://schemas.openxmlformats.org/drawingml/2006/main">
            <a:r>
              <a:t>567,56</a:t>
            </a:r>
          </a:p>
          <a:p xmlns:a="http://schemas.openxmlformats.org/drawingml/2006/main">
            <a:r>
              <a:t>Бразилия лидирует по стоимости в этом сравнении. Выберите направление и изучите</a:t>
            </a:r>
          </a:p>
          <a:p xmlns:a="http://schemas.openxmlformats.org/drawingml/2006/main">
            <a:r>
              <a:t>конкретных импортёров.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приложенная презентация Axcend_Detailed_RU.pdf, страница 11.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Axcend</a:t>
            </a:r>
          </a:p>
          <a:p xmlns:a="http://schemas.openxmlformats.org/drawingml/2006/main">
            <a:r>
              <a:t>Направления, порты и способы перевозки</a:t>
            </a:r>
          </a:p>
          <a:p xmlns:a="http://schemas.openxmlformats.org/drawingml/2006/main">
            <a:r>
              <a:t>C01 / 08.2026; C02 / 09.2026; C03 / 08–09.2026; C04 / 07.2026; C06 / 01–06.2026</a:t>
            </a:r>
          </a:p>
          <a:p xmlns:a="http://schemas.openxmlformats.org/drawingml/2006/main">
            <a:r>
              <a:t>11 / 20</a:t>
            </a:r>
          </a:p>
          <a:p xmlns:a="http://schemas.openxmlformats.org/drawingml/2006/main">
            <a:r>
              <a:t>Происхождение → направление</a:t>
            </a:r>
          </a:p>
          <a:p xmlns:a="http://schemas.openxmlformats.org/drawingml/2006/main">
            <a:r>
              <a:t>Пример</a:t>
            </a:r>
          </a:p>
          <a:p xmlns:a="http://schemas.openxmlformats.org/drawingml/2006/main">
            <a:r>
              <a:t>Руанда → США</a:t>
            </a:r>
          </a:p>
          <a:p xmlns:a="http://schemas.openxmlformats.org/drawingml/2006/main">
            <a:r>
              <a:t>COVOYA LTD. / C01</a:t>
            </a:r>
          </a:p>
          <a:p xmlns:a="http://schemas.openxmlformats.org/drawingml/2006/main">
            <a:r>
              <a:t>Италия → США</a:t>
            </a:r>
          </a:p>
          <a:p xmlns:a="http://schemas.openxmlformats.org/drawingml/2006/main">
            <a:r>
              <a:t>LUIGI LAVAZZA S.P.A. / C02</a:t>
            </a:r>
          </a:p>
          <a:p xmlns:a="http://schemas.openxmlformats.org/drawingml/2006/main">
            <a:r>
              <a:t>Вьетнам → Индия</a:t>
            </a:r>
          </a:p>
          <a:p xmlns:a="http://schemas.openxmlformats.org/drawingml/2006/main">
            <a:r>
              <a:t>PET / C03</a:t>
            </a:r>
          </a:p>
          <a:p xmlns:a="http://schemas.openxmlformats.org/drawingml/2006/main">
            <a:r>
              <a:t>Китай → Бразилия</a:t>
            </a:r>
          </a:p>
          <a:p xmlns:a="http://schemas.openxmlformats.org/drawingml/2006/main">
            <a:r>
              <a:t>TRAMONTINA GARIBALDI S.A. / C04</a:t>
            </a:r>
          </a:p>
          <a:p xmlns:a="http://schemas.openxmlformats.org/drawingml/2006/main">
            <a:r>
              <a:t>Дополняйте географию полями портов и способов перевозки: море, воздух,</a:t>
            </a:r>
          </a:p>
          <a:p xmlns:a="http://schemas.openxmlformats.org/drawingml/2006/main">
            <a:r>
              <a:t>суша.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приложенная презентация Axcend_Detailed_RU.pdf, страница 12.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Axcend</a:t>
            </a:r>
          </a:p>
          <a:p xmlns:a="http://schemas.openxmlformats.org/drawingml/2006/main">
            <a:r>
              <a:t>Находите кандидатов в партнёры</a:t>
            </a:r>
          </a:p>
          <a:p xmlns:a="http://schemas.openxmlformats.org/drawingml/2006/main">
            <a:r>
              <a:t>Данные и аналитика международной торговли</a:t>
            </a:r>
          </a:p>
          <a:p xmlns:a="http://schemas.openxmlformats.org/drawingml/2006/main">
            <a:r>
              <a:t>12 / 20</a:t>
            </a:r>
          </a:p>
          <a:p xmlns:a="http://schemas.openxmlformats.org/drawingml/2006/main">
            <a:r>
              <a:t>История закупок помогает выбрать компании для разговора о дистрибуции или</a:t>
            </a:r>
          </a:p>
          <a:p xmlns:a="http://schemas.openxmlformats.org/drawingml/2006/main">
            <a:r>
              <a:t>торговом партнёрстве.</a:t>
            </a:r>
          </a:p>
          <a:p xmlns:a="http://schemas.openxmlformats.org/drawingml/2006/main">
            <a:r>
              <a:t>Ваш товар</a:t>
            </a:r>
          </a:p>
          <a:p xmlns:a="http://schemas.openxmlformats.org/drawingml/2006/main">
            <a:r>
              <a:t>и направление</a:t>
            </a:r>
          </a:p>
          <a:p xmlns:a="http://schemas.openxmlformats.org/drawingml/2006/main">
            <a:r>
              <a:t>Покупатели</a:t>
            </a:r>
          </a:p>
          <a:p xmlns:a="http://schemas.openxmlformats.org/drawingml/2006/main">
            <a:r>
              <a:t>этой категории</a:t>
            </a:r>
          </a:p>
          <a:p xmlns:a="http://schemas.openxmlformats.org/drawingml/2006/main">
            <a:r>
              <a:t>Профиль</a:t>
            </a:r>
          </a:p>
          <a:p xmlns:a="http://schemas.openxmlformats.org/drawingml/2006/main">
            <a:r>
              <a:t>потенциального</a:t>
            </a:r>
          </a:p>
          <a:p xmlns:a="http://schemas.openxmlformats.org/drawingml/2006/main">
            <a:r>
              <a:t>партнёра</a:t>
            </a:r>
          </a:p>
          <a:p xmlns:a="http://schemas.openxmlformats.org/drawingml/2006/main">
            <a:r>
              <a:t>Сопоставьте ассортимент, регулярность закупок и торговые связи. Подготовьте партнёрское</a:t>
            </a:r>
          </a:p>
          <a:p xmlns:a="http://schemas.openxmlformats.org/drawingml/2006/main">
            <a:r>
              <a:t>предложение.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приложенная презентация Axcend_Detailed_RU.pdf, страница 13.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Axcend</a:t>
            </a:r>
          </a:p>
          <a:p xmlns:a="http://schemas.openxmlformats.org/drawingml/2006/main">
            <a:r>
              <a:t>Изучайте структуру и изменения закупок</a:t>
            </a:r>
          </a:p>
          <a:p xmlns:a="http://schemas.openxmlformats.org/drawingml/2006/main">
            <a:r>
              <a:t>Данные и аналитика международной торговли</a:t>
            </a:r>
          </a:p>
          <a:p xmlns:a="http://schemas.openxmlformats.org/drawingml/2006/main">
            <a:r>
              <a:t>13 / 20</a:t>
            </a:r>
          </a:p>
          <a:p xmlns:a="http://schemas.openxmlformats.org/drawingml/2006/main">
            <a:r>
              <a:t>Что сопоставить</a:t>
            </a:r>
          </a:p>
          <a:p xmlns:a="http://schemas.openxmlformats.org/drawingml/2006/main">
            <a:r>
              <a:t>Как использовать</a:t>
            </a:r>
          </a:p>
          <a:p xmlns:a="http://schemas.openxmlformats.org/drawingml/2006/main">
            <a:r>
              <a:t>Товары и категории клиента</a:t>
            </a:r>
          </a:p>
          <a:p xmlns:a="http://schemas.openxmlformats.org/drawingml/2006/main">
            <a:r>
              <a:t>Выбрать смежный ассортимент для предложения.</a:t>
            </a:r>
          </a:p>
          <a:p xmlns:a="http://schemas.openxmlformats.org/drawingml/2006/main">
            <a:r>
              <a:t>Пример: инструменты, аккумуляторы, зарядки — C04.</a:t>
            </a:r>
          </a:p>
          <a:p xmlns:a="http://schemas.openxmlformats.org/drawingml/2006/main">
            <a:r>
              <a:t>Поставщики одной компании</a:t>
            </a:r>
          </a:p>
          <a:p xmlns:a="http://schemas.openxmlformats.org/drawingml/2006/main">
            <a:r>
              <a:t>Понять состав источников поставки и сравнить</a:t>
            </a:r>
          </a:p>
          <a:p xmlns:a="http://schemas.openxmlformats.org/drawingml/2006/main">
            <a:r>
              <a:t>участников.</a:t>
            </a:r>
          </a:p>
          <a:p xmlns:a="http://schemas.openxmlformats.org/drawingml/2006/main">
            <a:r>
              <a:t>Связи за разные периоды</a:t>
            </a:r>
          </a:p>
          <a:p xmlns:a="http://schemas.openxmlformats.org/drawingml/2006/main">
            <a:r>
              <a:t>Увидеть появление новых поставщиков и изменение</a:t>
            </a:r>
          </a:p>
          <a:p xmlns:a="http://schemas.openxmlformats.org/drawingml/2006/main">
            <a:r>
              <a:t>активности действующих.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приложенная презентация Axcend_Detailed_RU.pdf, страница 14.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Axcend</a:t>
            </a:r>
          </a:p>
          <a:p xmlns:a="http://schemas.openxmlformats.org/drawingml/2006/main">
            <a:r>
              <a:t>От истории операций к обращению</a:t>
            </a:r>
          </a:p>
          <a:p xmlns:a="http://schemas.openxmlformats.org/drawingml/2006/main">
            <a:r>
              <a:t>Данные и аналитика международной торговли</a:t>
            </a:r>
          </a:p>
          <a:p xmlns:a="http://schemas.openxmlformats.org/drawingml/2006/main">
            <a:r>
              <a:t>14 / 20</a:t>
            </a:r>
          </a:p>
          <a:p xmlns:a="http://schemas.openxmlformats.org/drawingml/2006/main">
            <a:r>
              <a:t>Профиль компании и контактная роль дополняют сведения о её торговле.</a:t>
            </a:r>
          </a:p>
          <a:p xmlns:a="http://schemas.openxmlformats.org/drawingml/2006/main">
            <a:r>
              <a:t>История</a:t>
            </a:r>
          </a:p>
          <a:p xmlns:a="http://schemas.openxmlformats.org/drawingml/2006/main">
            <a:r>
              <a:t>операций</a:t>
            </a:r>
          </a:p>
          <a:p xmlns:a="http://schemas.openxmlformats.org/drawingml/2006/main">
            <a:r>
              <a:t>Профиль</a:t>
            </a:r>
          </a:p>
          <a:p xmlns:a="http://schemas.openxmlformats.org/drawingml/2006/main">
            <a:r>
              <a:t>компании</a:t>
            </a:r>
          </a:p>
          <a:p xmlns:a="http://schemas.openxmlformats.org/drawingml/2006/main">
            <a:r>
              <a:t>Роль и</a:t>
            </a:r>
          </a:p>
          <a:p xmlns:a="http://schemas.openxmlformats.org/drawingml/2006/main">
            <a:r>
              <a:t>контакт</a:t>
            </a:r>
          </a:p>
          <a:p xmlns:a="http://schemas.openxmlformats.org/drawingml/2006/main">
            <a:r>
              <a:t>Предметное</a:t>
            </a:r>
          </a:p>
          <a:p xmlns:a="http://schemas.openxmlformats.org/drawingml/2006/main">
            <a:r>
              <a:t>обращение</a:t>
            </a:r>
          </a:p>
          <a:p xmlns:a="http://schemas.openxmlformats.org/drawingml/2006/main">
            <a:r>
              <a:t>Изучайте страну, отрасль и профиль организации. Связывайте обращение с задачей</a:t>
            </a:r>
          </a:p>
          <a:p xmlns:a="http://schemas.openxmlformats.org/drawingml/2006/main">
            <a:r>
              <a:t>нужного человека.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приложенная презентация Axcend_Detailed_RU.pdf, страница 15.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Axcend</a:t>
            </a:r>
          </a:p>
          <a:p xmlns:a="http://schemas.openxmlformats.org/drawingml/2006/main">
            <a:r>
              <a:t>Определяйте приоритет компаний по истории</a:t>
            </a:r>
          </a:p>
          <a:p xmlns:a="http://schemas.openxmlformats.org/drawingml/2006/main">
            <a:r>
              <a:t>Данные и аналитика международной торговли</a:t>
            </a:r>
          </a:p>
          <a:p xmlns:a="http://schemas.openxmlformats.org/drawingml/2006/main">
            <a:r>
              <a:t>15 / 20</a:t>
            </a:r>
          </a:p>
          <a:p xmlns:a="http://schemas.openxmlformats.org/drawingml/2006/main">
            <a:r>
              <a:t>Давность</a:t>
            </a:r>
          </a:p>
          <a:p xmlns:a="http://schemas.openxmlformats.org/drawingml/2006/main">
            <a:r>
              <a:t>Когда была последняя</a:t>
            </a:r>
          </a:p>
          <a:p xmlns:a="http://schemas.openxmlformats.org/drawingml/2006/main">
            <a:r>
              <a:t>операция по вашему</a:t>
            </a:r>
          </a:p>
          <a:p xmlns:a="http://schemas.openxmlformats.org/drawingml/2006/main">
            <a:r>
              <a:t>товару?</a:t>
            </a:r>
          </a:p>
          <a:p xmlns:a="http://schemas.openxmlformats.org/drawingml/2006/main">
            <a:r>
              <a:t>Частота</a:t>
            </a:r>
          </a:p>
          <a:p xmlns:a="http://schemas.openxmlformats.org/drawingml/2006/main">
            <a:r>
              <a:t>Как регулярно компания</a:t>
            </a:r>
          </a:p>
          <a:p xmlns:a="http://schemas.openxmlformats.org/drawingml/2006/main">
            <a:r>
              <a:t>закупает в выбранном</a:t>
            </a:r>
          </a:p>
          <a:p xmlns:a="http://schemas.openxmlformats.org/drawingml/2006/main">
            <a:r>
              <a:t>периоде?</a:t>
            </a:r>
          </a:p>
          <a:p xmlns:a="http://schemas.openxmlformats.org/drawingml/2006/main">
            <a:r>
              <a:t>Масштаб</a:t>
            </a:r>
          </a:p>
          <a:p xmlns:a="http://schemas.openxmlformats.org/drawingml/2006/main">
            <a:r>
              <a:t>Каковы объём и</a:t>
            </a:r>
          </a:p>
          <a:p xmlns:a="http://schemas.openxmlformats.org/drawingml/2006/main">
            <a:r>
              <a:t>стоимость закупок?</a:t>
            </a:r>
          </a:p>
          <a:p xmlns:a="http://schemas.openxmlformats.org/drawingml/2006/main">
            <a:r>
              <a:t>Сначала изучайте компании, чья активность и масштаб соответствуют вашему</a:t>
            </a:r>
          </a:p>
          <a:p xmlns:a="http://schemas.openxmlformats.org/drawingml/2006/main">
            <a:r>
              <a:t>предложению.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приложенная презентация Axcend_Detailed_RU.pdf, страница 16.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Axcend</a:t>
            </a:r>
          </a:p>
          <a:p xmlns:a="http://schemas.openxmlformats.org/drawingml/2006/main">
            <a:r>
              <a:t>Превратите исследование в регулярную работу</a:t>
            </a:r>
          </a:p>
          <a:p xmlns:a="http://schemas.openxmlformats.org/drawingml/2006/main">
            <a:r>
              <a:t>Данные и аналитика международной торговли</a:t>
            </a:r>
          </a:p>
          <a:p xmlns:a="http://schemas.openxmlformats.org/drawingml/2006/main">
            <a:r>
              <a:t>16 / 20</a:t>
            </a:r>
          </a:p>
          <a:p xmlns:a="http://schemas.openxmlformats.org/drawingml/2006/main">
            <a:r>
              <a:t>Сохраняйте наблюдения и возвращайтесь к нужным компаниям и товарам.</a:t>
            </a:r>
          </a:p>
          <a:p xmlns:a="http://schemas.openxmlformats.org/drawingml/2006/main">
            <a:r>
              <a:t>Избранное</a:t>
            </a:r>
          </a:p>
          <a:p xmlns:a="http://schemas.openxmlformats.org/drawingml/2006/main">
            <a:r>
              <a:t>Компании и</a:t>
            </a:r>
          </a:p>
          <a:p xmlns:a="http://schemas.openxmlformats.org/drawingml/2006/main">
            <a:r>
              <a:t>запросы</a:t>
            </a:r>
          </a:p>
          <a:p xmlns:a="http://schemas.openxmlformats.org/drawingml/2006/main">
            <a:r>
              <a:t>Настройки</a:t>
            </a:r>
          </a:p>
          <a:p xmlns:a="http://schemas.openxmlformats.org/drawingml/2006/main">
            <a:r>
              <a:t>Период и</a:t>
            </a:r>
          </a:p>
          <a:p xmlns:a="http://schemas.openxmlformats.org/drawingml/2006/main">
            <a:r>
              <a:t>условия</a:t>
            </a:r>
          </a:p>
          <a:p xmlns:a="http://schemas.openxmlformats.org/drawingml/2006/main">
            <a:r>
              <a:t>Отчёты</a:t>
            </a:r>
          </a:p>
          <a:p xmlns:a="http://schemas.openxmlformats.org/drawingml/2006/main">
            <a:r>
              <a:t>И уведомления</a:t>
            </a:r>
          </a:p>
          <a:p xmlns:a="http://schemas.openxmlformats.org/drawingml/2006/main">
            <a:r>
              <a:t>Выгрузки</a:t>
            </a:r>
          </a:p>
          <a:p xmlns:a="http://schemas.openxmlformats.org/drawingml/2006/main">
            <a:r>
              <a:t>Для работы</a:t>
            </a:r>
          </a:p>
          <a:p xmlns:a="http://schemas.openxmlformats.org/drawingml/2006/main">
            <a:r>
              <a:t>команды</a:t>
            </a:r>
          </a:p>
          <a:p xmlns:a="http://schemas.openxmlformats.org/drawingml/2006/main">
            <a:r>
              <a:t>Используйте сохранённые запросы, пользовательские таблицы, выгрузки и отчёты по</a:t>
            </a:r>
          </a:p>
          <a:p xmlns:a="http://schemas.openxmlformats.org/drawingml/2006/main">
            <a:r>
              <a:t>расписанию.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приложенная презентация Axcend_Detailed_RU.pdf, страница 17.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Axcend</a:t>
            </a:r>
          </a:p>
          <a:p xmlns:a="http://schemas.openxmlformats.org/drawingml/2006/main">
            <a:r>
              <a:t>Данные помогают подготовить закупку</a:t>
            </a:r>
          </a:p>
          <a:p xmlns:a="http://schemas.openxmlformats.org/drawingml/2006/main">
            <a:r>
              <a:t>C05 / 31.08.2026</a:t>
            </a:r>
          </a:p>
          <a:p xmlns:a="http://schemas.openxmlformats.org/drawingml/2006/main">
            <a:r>
              <a:t>17 / 20</a:t>
            </a:r>
          </a:p>
          <a:p xmlns:a="http://schemas.openxmlformats.org/drawingml/2006/main">
            <a:r>
              <a:t>PET P633-2</a:t>
            </a:r>
          </a:p>
          <a:p xmlns:a="http://schemas.openxmlformats.org/drawingml/2006/main">
            <a:r>
              <a:t>Марка и вязкость</a:t>
            </a:r>
          </a:p>
          <a:p xmlns:a="http://schemas.openxmlformats.org/drawingml/2006/main">
            <a:r>
              <a:t>Bottle AA grade, 80 ml/g</a:t>
            </a:r>
          </a:p>
          <a:p xmlns:a="http://schemas.openxmlformats.org/drawingml/2006/main">
            <a:r>
              <a:t>Партии</a:t>
            </a:r>
          </a:p>
          <a:p xmlns:a="http://schemas.openxmlformats.org/drawingml/2006/main">
            <a:r>
              <a:t>46 / 69 / 115 т</a:t>
            </a:r>
          </a:p>
          <a:p xmlns:a="http://schemas.openxmlformats.org/drawingml/2006/main">
            <a:r>
              <a:t>Вопросы к поставщику</a:t>
            </a:r>
          </a:p>
          <a:p xmlns:a="http://schemas.openxmlformats.org/drawingml/2006/main">
            <a:r>
              <a:t>Какую партию вы можете предложить?</a:t>
            </a:r>
          </a:p>
          <a:p xmlns:a="http://schemas.openxmlformats.org/drawingml/2006/main">
            <a:r>
              <a:t>Каковы сроки и условия поставки?</a:t>
            </a:r>
          </a:p>
          <a:p xmlns:a="http://schemas.openxmlformats.org/drawingml/2006/main">
            <a:r>
              <a:t>Какой будет цена по нашей</a:t>
            </a:r>
          </a:p>
          <a:p xmlns:a="http://schemas.openxmlformats.org/drawingml/2006/main">
            <a:r>
              <a:t>спецификации?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приложенная презентация Axcend_Detailed_RU.pdf, страница 18.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Axcend</a:t>
            </a:r>
          </a:p>
          <a:p xmlns:a="http://schemas.openxmlformats.org/drawingml/2006/main">
            <a:r>
              <a:t>Для одной задачи и для текущей работы</a:t>
            </a:r>
          </a:p>
          <a:p xmlns:a="http://schemas.openxmlformats.org/drawingml/2006/main">
            <a:r>
              <a:t>Данные и аналитика международной торговли</a:t>
            </a:r>
          </a:p>
          <a:p xmlns:a="http://schemas.openxmlformats.org/drawingml/2006/main">
            <a:r>
              <a:t>18 / 20</a:t>
            </a:r>
          </a:p>
          <a:p xmlns:a="http://schemas.openxmlformats.org/drawingml/2006/main">
            <a:r>
              <a:t>Когда нужен доступ</a:t>
            </a:r>
          </a:p>
          <a:p xmlns:a="http://schemas.openxmlformats.org/drawingml/2006/main">
            <a:r>
              <a:t>Что сделать в платформе</a:t>
            </a:r>
          </a:p>
          <a:p xmlns:a="http://schemas.openxmlformats.org/drawingml/2006/main">
            <a:r>
              <a:t>Конкретный вопрос сейчас</a:t>
            </a:r>
          </a:p>
          <a:p xmlns:a="http://schemas.openxmlformats.org/drawingml/2006/main">
            <a:r>
              <a:t>Изучить клиента перед встречей. Выбрать</a:t>
            </a:r>
          </a:p>
          <a:p xmlns:a="http://schemas.openxmlformats.org/drawingml/2006/main">
            <a:r>
              <a:t>поставщиков по товару. Сопоставить несколько</a:t>
            </a:r>
          </a:p>
          <a:p xmlns:a="http://schemas.openxmlformats.org/drawingml/2006/main">
            <a:r>
              <a:t>операций.</a:t>
            </a:r>
          </a:p>
          <a:p xmlns:a="http://schemas.openxmlformats.org/drawingml/2006/main">
            <a:r>
              <a:t>Постоянная работа команды</a:t>
            </a:r>
          </a:p>
          <a:p xmlns:a="http://schemas.openxmlformats.org/drawingml/2006/main">
            <a:r>
              <a:t>Пополнять список покупателей. Развивать</a:t>
            </a:r>
          </a:p>
          <a:p xmlns:a="http://schemas.openxmlformats.org/drawingml/2006/main">
            <a:r>
              <a:t>действующих клиентов. Исследовать новые</a:t>
            </a:r>
          </a:p>
          <a:p xmlns:a="http://schemas.openxmlformats.org/drawingml/2006/main">
            <a:r>
              <a:t>направления.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приложенная презентация Axcend_Detailed_RU.pdf, страница 19.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Axcend</a:t>
            </a:r>
          </a:p>
          <a:p xmlns:a="http://schemas.openxmlformats.org/drawingml/2006/main">
            <a:r>
              <a:t>Полный доступ для коммерческих решений</a:t>
            </a:r>
          </a:p>
          <a:p xmlns:a="http://schemas.openxmlformats.org/drawingml/2006/main">
            <a:r>
              <a:t>Данные и аналитика международной торговли</a:t>
            </a:r>
          </a:p>
          <a:p xmlns:a="http://schemas.openxmlformats.org/drawingml/2006/main">
            <a:r>
              <a:t>19 / 20</a:t>
            </a:r>
          </a:p>
          <a:p xmlns:a="http://schemas.openxmlformats.org/drawingml/2006/main">
            <a:r>
              <a:t>Возможности</a:t>
            </a:r>
          </a:p>
          <a:p xmlns:a="http://schemas.openxmlformats.org/drawingml/2006/main">
            <a:r>
              <a:t>Что изучать и делать</a:t>
            </a:r>
          </a:p>
          <a:p xmlns:a="http://schemas.openxmlformats.org/drawingml/2006/main">
            <a:r>
              <a:t>Поиск и связи</a:t>
            </a:r>
          </a:p>
          <a:p xmlns:a="http://schemas.openxmlformats.org/drawingml/2006/main">
            <a:r>
              <a:t>Покупатели, поставщики, конкуренты, партнёры и контакты.</a:t>
            </a:r>
          </a:p>
          <a:p xmlns:a="http://schemas.openxmlformats.org/drawingml/2006/main">
            <a:r>
              <a:t>История и аналитика</a:t>
            </a:r>
          </a:p>
          <a:p xmlns:a="http://schemas.openxmlformats.org/drawingml/2006/main">
            <a:r>
              <a:t>Цены, объёмы, динамика, сезонность, география и</a:t>
            </a:r>
          </a:p>
          <a:p xmlns:a="http://schemas.openxmlformats.org/drawingml/2006/main">
            <a:r>
              <a:t>транспорт.</a:t>
            </a:r>
          </a:p>
          <a:p xmlns:a="http://schemas.openxmlformats.org/drawingml/2006/main">
            <a:r>
              <a:t>Работа с данными</a:t>
            </a:r>
          </a:p>
          <a:p xmlns:a="http://schemas.openxmlformats.org/drawingml/2006/main">
            <a:r>
              <a:t>Наблюдения, избранное, таблицы, выгрузки и отчёты.</a:t>
            </a:r>
          </a:p>
          <a:p xmlns:a="http://schemas.openxmlformats.org/drawingml/2006/main">
            <a:r>
              <a:t>Товарные направления</a:t>
            </a:r>
          </a:p>
          <a:p xmlns:a="http://schemas.openxmlformats.org/drawingml/2006/main">
            <a:r>
              <a:t>Товарные коды и тарифная информация для сравнения</a:t>
            </a:r>
          </a:p>
          <a:p xmlns:a="http://schemas.openxmlformats.org/drawingml/2006/main">
            <a:r>
              <a:t>направлений.</a:t>
            </a:r>
          </a:p>
          <a:p xmlns:a="http://schemas.openxmlformats.org/drawingml/2006/main">
            <a:r>
              <a:t>Пришлите название компании или товара. Покажем пример по вашей задаче.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содержания: приложенная презентация Axcend_Detailed_RU.pdf, страница 20.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Axcend</a:t>
            </a:r>
          </a:p>
          <a:p xmlns:a="http://schemas.openxmlformats.org/drawingml/2006/main">
            <a:r>
              <a:t>Данные и аналитика международной торговли</a:t>
            </a:r>
          </a:p>
          <a:p xmlns:a="http://schemas.openxmlformats.org/drawingml/2006/main">
            <a:r>
              <a:t>20 / 20</a:t>
            </a:r>
          </a:p>
          <a:p xmlns:a="http://schemas.openxmlformats.org/drawingml/2006/main">
            <a:r>
              <a:t>Доступ к данным и аналитике международной</a:t>
            </a:r>
          </a:p>
          <a:p xmlns:a="http://schemas.openxmlformats.org/drawingml/2006/main">
            <a:r>
              <a:t>торговли</a:t>
            </a:r>
          </a:p>
          <a:p xmlns:a="http://schemas.openxmlformats.org/drawingml/2006/main">
            <a:r>
              <a:t>$500</a:t>
            </a:r>
          </a:p>
          <a:p xmlns:a="http://schemas.openxmlformats.org/drawingml/2006/main">
            <a:r>
              <a:t>в месяц</a:t>
            </a:r>
          </a:p>
          <a:p xmlns:a="http://schemas.openxmlformats.org/drawingml/2006/main">
            <a:r>
              <a:t>Полный доступ к</a:t>
            </a:r>
          </a:p>
          <a:p xmlns:a="http://schemas.openxmlformats.org/drawingml/2006/main">
            <a:r>
              <a:t>информации платформы</a:t>
            </a:r>
          </a:p>
          <a:p xmlns:a="http://schemas.openxmlformats.org/drawingml/2006/main">
            <a:r>
              <a:t>Покупатели и поставщики, история</a:t>
            </a:r>
          </a:p>
          <a:p xmlns:a="http://schemas.openxmlformats.org/drawingml/2006/main">
            <a:r>
              <a:t>операций, цены, объёмы и торговые связи.</a:t>
            </a:r>
          </a:p>
          <a:p xmlns:a="http://schemas.openxmlformats.org/drawingml/2006/main">
            <a:r>
              <a:t>Пришлите название компании или товара для предметного примера.</a:t>
            </a:r>
          </a:p>
          <a:p xmlns:a="http://schemas.openxmlformats.org/drawingml/2006/main">
            <a:r>
              <a:t>Готовы купить? Ответьте «ДОСТУП» отправителю материала.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c75f3bbd324a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f2686ab6e74d84" /><Relationship Type="http://schemas.openxmlformats.org/officeDocument/2006/relationships/slideLayout" Target="/ppt/slideLayouts/slideLayout1.xml" Id="R35e08e1a8c374b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e08e1a8c374b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Axcend Editorial">
      <a:dk1>
        <a:srgbClr val="0F2D27"/>
      </a:dk1>
      <a:lt1>
        <a:srgbClr val="FFFFFF"/>
      </a:lt1>
      <a:dk2>
        <a:srgbClr val="163F38"/>
      </a:dk2>
      <a:lt2>
        <a:srgbClr val="F7F7F2"/>
      </a:lt2>
      <a:accent1>
        <a:srgbClr val="247B65"/>
      </a:accent1>
      <a:accent2>
        <a:srgbClr val="A94D34"/>
      </a:accent2>
      <a:accent3>
        <a:srgbClr val="C6D5BC"/>
      </a:accent3>
      <a:accent4>
        <a:srgbClr val="577B88"/>
      </a:accent4>
      <a:accent5>
        <a:srgbClr val="BCAB89"/>
      </a:accent5>
      <a:accent6>
        <a:srgbClr val="859985"/>
      </a:accent6>
      <a:hlink>
        <a:srgbClr val="247B65"/>
      </a:hlink>
      <a:folHlink>
        <a:srgbClr val="A94D34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xcend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e4ee6f563d421e" /><Relationship Type="http://schemas.openxmlformats.org/officeDocument/2006/relationships/image" Target="/ppt/media/image.png" Id="R78649d5658034525" /><Relationship Type="http://schemas.openxmlformats.org/officeDocument/2006/relationships/notesSlide" Target="/ppt/notesSlides/notesSlide1.xml" Id="R78d044ea804d45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3d8a80463a4c7f" /><Relationship Type="http://schemas.openxmlformats.org/officeDocument/2006/relationships/notesSlide" Target="/ppt/notesSlides/notesSlide2.xml" Id="R53e254cbeadb49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8dbee7d8fd4fe9" /><Relationship Type="http://schemas.openxmlformats.org/officeDocument/2006/relationships/notesSlide" Target="/ppt/notesSlides/notesSlide3.xml" Id="R41ea3d52dacd4f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63d4b8375e4a5b" /><Relationship Type="http://schemas.openxmlformats.org/officeDocument/2006/relationships/notesSlide" Target="/ppt/notesSlides/notesSlide4.xml" Id="R2480a0d06c3143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2630f676549bb" /><Relationship Type="http://schemas.openxmlformats.org/officeDocument/2006/relationships/notesSlide" Target="/ppt/notesSlides/notesSlide5.xml" Id="R2907123751af47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90426d55b4205" /><Relationship Type="http://schemas.openxmlformats.org/officeDocument/2006/relationships/chart" Target="/ppt/slides/charts/chart1.xml" Id="R00c443d787724a30" /><Relationship Type="http://schemas.openxmlformats.org/officeDocument/2006/relationships/notesSlide" Target="/ppt/notesSlides/notesSlide6.xml" Id="R0743707172534f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89de115a144128" /><Relationship Type="http://schemas.openxmlformats.org/officeDocument/2006/relationships/notesSlide" Target="/ppt/notesSlides/notesSlide7.xml" Id="R49f0b97945b748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ac795e34e4489c" /><Relationship Type="http://schemas.openxmlformats.org/officeDocument/2006/relationships/image" Target="/ppt/media/image2.png" Id="Rd5fc92b26bab4e05" /><Relationship Type="http://schemas.openxmlformats.org/officeDocument/2006/relationships/notesSlide" Target="/ppt/notesSlides/notesSlide8.xml" Id="R163abdb232db48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17c10d5a54574" /><Relationship Type="http://schemas.openxmlformats.org/officeDocument/2006/relationships/notesSlide" Target="/ppt/notesSlides/notesSlide9.xml" Id="R0c83119b0746426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c173e401614774" /><Relationship Type="http://schemas.openxmlformats.org/officeDocument/2006/relationships/chart" Target="/ppt/slides/charts/chart2.xml" Id="R0349cf9871af4d24" /><Relationship Type="http://schemas.openxmlformats.org/officeDocument/2006/relationships/notesSlide" Target="/ppt/notesSlides/notesSlide10.xml" Id="R7feb7adfcae74a6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506ed0540e452d" /><Relationship Type="http://schemas.openxmlformats.org/officeDocument/2006/relationships/notesSlide" Target="/ppt/notesSlides/notesSlide11.xml" Id="Ra4c372a41111430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01e5d6fe7a4555" /><Relationship Type="http://schemas.openxmlformats.org/officeDocument/2006/relationships/notesSlide" Target="/ppt/notesSlides/notesSlide12.xml" Id="R71ace6ff7fe64f6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3dcf6cf7104c89" /><Relationship Type="http://schemas.openxmlformats.org/officeDocument/2006/relationships/notesSlide" Target="/ppt/notesSlides/notesSlide13.xml" Id="Rd5d4b3791d3c415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9dd7cd28e4479" /><Relationship Type="http://schemas.openxmlformats.org/officeDocument/2006/relationships/notesSlide" Target="/ppt/notesSlides/notesSlide14.xml" Id="R40d8ba73781f420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68c1fbcd4548ce" /><Relationship Type="http://schemas.openxmlformats.org/officeDocument/2006/relationships/notesSlide" Target="/ppt/notesSlides/notesSlide15.xml" Id="Re642fe3071254b7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067064ba364aad" /><Relationship Type="http://schemas.openxmlformats.org/officeDocument/2006/relationships/notesSlide" Target="/ppt/notesSlides/notesSlide16.xml" Id="Rab7d20fcdbc6487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e2573baed4984" /><Relationship Type="http://schemas.openxmlformats.org/officeDocument/2006/relationships/notesSlide" Target="/ppt/notesSlides/notesSlide17.xml" Id="R3ddad4cc58b44a1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6decf77495434a" /><Relationship Type="http://schemas.openxmlformats.org/officeDocument/2006/relationships/notesSlide" Target="/ppt/notesSlides/notesSlide18.xml" Id="Rf9c516f93b5f435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c39b6f574342d0" /><Relationship Type="http://schemas.openxmlformats.org/officeDocument/2006/relationships/notesSlide" Target="/ppt/notesSlides/notesSlide19.xml" Id="R7ed8f6df466f4f3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32cb3e6da420c" /><Relationship Type="http://schemas.openxmlformats.org/officeDocument/2006/relationships/notesSlide" Target="/ppt/notesSlides/notesSlide20.xml" Id="Rfc89e3cb8e07478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Вес, млн кг</c:v>
          </c:tx>
          <c:spPr>
            <a:solidFill xmlns:a="http://schemas.openxmlformats.org/drawingml/2006/main">
              <a:srgbClr val="8BB49C"/>
            </a:solidFill>
          </c:spPr>
          <c:dPt>
            <c:idx val="5"/>
            <c:invertIfNegative val="0"/>
            <c:spPr>
              <a:solidFill xmlns:a="http://schemas.openxmlformats.org/drawingml/2006/main">
                <a:srgbClr val="247B65"/>
              </a:solidFill>
            </c:spPr>
          </c:dPt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75" b="1">
                        <a:solidFill>
                          <a:srgbClr val="163F38"/>
                        </a:solidFill>
                        <a:latin typeface="Noto Sans"/>
                        <a:ea typeface="Noto Sans"/>
                        <a:cs typeface="Noto Sans"/>
                      </a:rPr>
                      <a:t>0,63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75" b="1">
                      <a:solidFill>
                        <a:srgbClr val="163F38"/>
                      </a:solidFill>
                      <a:latin typeface="Noto Sans"/>
                      <a:ea typeface="Noto Sans"/>
                      <a:cs typeface="Noto Sans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75" b="1">
                        <a:solidFill>
                          <a:srgbClr val="163F38"/>
                        </a:solidFill>
                        <a:latin typeface="Noto Sans"/>
                        <a:ea typeface="Noto Sans"/>
                        <a:cs typeface="Noto Sans"/>
                      </a:rPr>
                      <a:t>0,85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75" b="1">
                      <a:solidFill>
                        <a:srgbClr val="163F38"/>
                      </a:solidFill>
                      <a:latin typeface="Noto Sans"/>
                      <a:ea typeface="Noto Sans"/>
                      <a:cs typeface="Noto Sans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75" b="1">
                        <a:solidFill>
                          <a:srgbClr val="163F38"/>
                        </a:solidFill>
                        <a:latin typeface="Noto Sans"/>
                        <a:ea typeface="Noto Sans"/>
                        <a:cs typeface="Noto Sans"/>
                      </a:rPr>
                      <a:t>0,91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75" b="1">
                      <a:solidFill>
                        <a:srgbClr val="163F38"/>
                      </a:solidFill>
                      <a:latin typeface="Noto Sans"/>
                      <a:ea typeface="Noto Sans"/>
                      <a:cs typeface="Noto Sans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75" b="1">
                        <a:solidFill>
                          <a:srgbClr val="163F38"/>
                        </a:solidFill>
                        <a:latin typeface="Noto Sans"/>
                        <a:ea typeface="Noto Sans"/>
                        <a:cs typeface="Noto Sans"/>
                      </a:rPr>
                      <a:t>1,24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75" b="1">
                      <a:solidFill>
                        <a:srgbClr val="163F38"/>
                      </a:solidFill>
                      <a:latin typeface="Noto Sans"/>
                      <a:ea typeface="Noto Sans"/>
                      <a:cs typeface="Noto Sans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75" b="1">
                        <a:solidFill>
                          <a:srgbClr val="163F38"/>
                        </a:solidFill>
                        <a:latin typeface="Noto Sans"/>
                        <a:ea typeface="Noto Sans"/>
                        <a:cs typeface="Noto Sans"/>
                      </a:rPr>
                      <a:t>1,23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75" b="1">
                      <a:solidFill>
                        <a:srgbClr val="163F38"/>
                      </a:solidFill>
                      <a:latin typeface="Noto Sans"/>
                      <a:ea typeface="Noto Sans"/>
                      <a:cs typeface="Noto Sans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75" b="1">
                        <a:solidFill>
                          <a:srgbClr val="163F38"/>
                        </a:solidFill>
                        <a:latin typeface="Noto Sans"/>
                        <a:ea typeface="Noto Sans"/>
                        <a:cs typeface="Noto Sans"/>
                      </a:rPr>
                      <a:t>1,55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75" b="1">
                      <a:solidFill>
                        <a:srgbClr val="163F38"/>
                      </a:solidFill>
                      <a:latin typeface="Noto Sans"/>
                      <a:ea typeface="Noto Sans"/>
                      <a:cs typeface="Noto Sans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Data'!$A$2:$A$7</c:f>
              <c:strCache>
                <c:ptCount val="6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</c:strCache>
            </c:strRef>
          </c:cat>
          <c:val>
            <c:numRef>
              <c:f>'Chart Data'!$B$2:$B$7</c:f>
              <c:numCache>
                <c:formatCode>0.00</c:formatCode>
                <c:ptCount val="6"/>
                <c:pt idx="0">
                  <c:v>0.63</c:v>
                </c:pt>
                <c:pt idx="1">
                  <c:v>0.85</c:v>
                </c:pt>
                <c:pt idx="2">
                  <c:v>0.91</c:v>
                </c:pt>
                <c:pt idx="3">
                  <c:v>1.24</c:v>
                </c:pt>
                <c:pt idx="4">
                  <c:v>1.23</c:v>
                </c:pt>
                <c:pt idx="5">
                  <c:v>1.55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 b="1">
                  <a:solidFill>
                    <a:srgbClr val="163F38"/>
                  </a:solidFill>
                  <a:latin typeface="Noto Sans"/>
                  <a:ea typeface="Noto Sans"/>
                  <a:cs typeface="Noto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</c:catAx>
      <c:valAx>
        <c:axId val="48672768"/>
        <c:scaling>
          <c:orientation val="minMax"/>
          <c:max val="1.85"/>
          <c:min val="0"/>
        </c:scaling>
        <c:delete val="0"/>
        <c:axPos val="l"/>
        <c:numFmt formatCode="0.00"/>
        <c:majorTickMark val="none"/>
        <c:minorTickMark val="none"/>
        <c:tickLblPos val="none"/>
        <c:spPr>
          <a:ln xmlns:a="http://schemas.openxmlformats.org/drawingml/2006/main" w="9525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7F2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7F7F2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Стоимость CIF, млн долларов США</c:v>
          </c:tx>
          <c:spPr>
            <a:solidFill xmlns:a="http://schemas.openxmlformats.org/drawingml/2006/main">
              <a:srgbClr val="8BB49C"/>
            </a:solidFill>
          </c:spPr>
          <c:dPt>
            <c:idx val="2"/>
            <c:invertIfNegative val="0"/>
            <c:spPr>
              <a:solidFill xmlns:a="http://schemas.openxmlformats.org/drawingml/2006/main">
                <a:srgbClr val="247B65"/>
              </a:solidFill>
            </c:spPr>
          </c:dPt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725" b="1">
                        <a:solidFill>
                          <a:srgbClr val="163F38"/>
                        </a:solidFill>
                        <a:latin typeface="Noto Sans"/>
                        <a:ea typeface="Noto Sans"/>
                        <a:cs typeface="Noto Sans"/>
                      </a:rPr>
                      <a:t>31,28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725" b="1">
                      <a:solidFill>
                        <a:srgbClr val="163F38"/>
                      </a:solidFill>
                      <a:latin typeface="Noto Sans"/>
                      <a:ea typeface="Noto Sans"/>
                      <a:cs typeface="Noto Sans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725" b="1">
                        <a:solidFill>
                          <a:srgbClr val="163F38"/>
                        </a:solidFill>
                        <a:latin typeface="Noto Sans"/>
                        <a:ea typeface="Noto Sans"/>
                        <a:cs typeface="Noto Sans"/>
                      </a:rPr>
                      <a:t>85,84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725" b="1">
                      <a:solidFill>
                        <a:srgbClr val="163F38"/>
                      </a:solidFill>
                      <a:latin typeface="Noto Sans"/>
                      <a:ea typeface="Noto Sans"/>
                      <a:cs typeface="Noto Sans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725" b="1">
                        <a:solidFill>
                          <a:srgbClr val="163F38"/>
                        </a:solidFill>
                        <a:latin typeface="Noto Sans"/>
                        <a:ea typeface="Noto Sans"/>
                        <a:cs typeface="Noto Sans"/>
                      </a:rPr>
                      <a:t>567,56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725" b="1">
                      <a:solidFill>
                        <a:srgbClr val="163F38"/>
                      </a:solidFill>
                      <a:latin typeface="Noto Sans"/>
                      <a:ea typeface="Noto Sans"/>
                      <a:cs typeface="Noto Sans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Data'!$A$2:$A$4</c:f>
              <c:strCache>
                <c:ptCount val="3"/>
                <c:pt idx="0">
                  <c:v>Чили</c:v>
                </c:pt>
                <c:pt idx="1">
                  <c:v>Мексика</c:v>
                </c:pt>
                <c:pt idx="2">
                  <c:v>Бразилия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31.28</c:v>
                </c:pt>
                <c:pt idx="1">
                  <c:v>85.84</c:v>
                </c:pt>
                <c:pt idx="2">
                  <c:v>567.56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163F38"/>
                  </a:solidFill>
                  <a:latin typeface="Noto Sans"/>
                  <a:ea typeface="Noto Sans"/>
                  <a:cs typeface="Noto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</c:catAx>
      <c:valAx>
        <c:axId val="48672768"/>
        <c:scaling>
          <c:orientation val="minMax"/>
          <c:max val="700"/>
          <c:min val="0"/>
        </c:scaling>
        <c:delete val="0"/>
        <c:axPos val="b"/>
        <c:numFmt formatCode="0.00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7F2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7F7F2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rand">
            <a:extLst xmlns:a="http://schemas.openxmlformats.org/drawingml/2006/main">
              <a:ext uri="{FF2B5EF4-FFF2-40B4-BE49-F238E27FC236}">
                <a16:creationId xmlns:a16="http://schemas.microsoft.com/office/drawing/2014/main" id="{879CE239-5CBA-48C3-AD2C-0F462042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Axcend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0A26E346-BA97-4F16-907D-B6342D3F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429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01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649d5658034525"/>
          <a:srcRect xmlns:a="http://schemas.openxmlformats.org/drawingml/2006/main" l="29259" t="0" r="292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24800" y="0"/>
            <a:ext cx="42672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C5D1683-736F-4E56-8428-A948B58E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7627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435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Данные мировой</a:t>
            </a:r>
          </a:p>
          <a:p xmlns:a="http://schemas.openxmlformats.org/drawingml/2006/main">
            <a:pPr algn="l">
              <a:defRPr sz="435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435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торговли для</a:t>
            </a:r>
          </a:p>
          <a:p xmlns:a="http://schemas.openxmlformats.org/drawingml/2006/main">
            <a:pPr algn="l">
              <a:defRPr sz="435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435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ваших сделок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5936196-9354-46A0-81F5-DF3C42E5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6686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Самостоятельный доступ к платформе</a:t>
            </a:r>
          </a:p>
          <a:p xmlns:a="http://schemas.openxmlformats.org/drawingml/2006/main">
            <a:pPr algn="l">
              <a:defRPr sz="1950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данных и аналитики мировой торговли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01DCE2E-ADE0-498F-83CE-19BDE0A6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666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7B65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247B65"/>
                </a:solidFill>
                <a:latin typeface="Noto Sans"/>
                <a:ea typeface="Noto Sans"/>
                <a:cs typeface="Noto Sans"/>
              </a:rPr>
              <a:t>$500 в месяц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D73A339-9633-487B-B767-6B2E3B20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Полный доступ к информации платформы</a:t>
            </a:r>
          </a:p>
        </p:txBody>
      </p:sp>
    </p:spTree>
    <p:extLst>
      <p:ext uri="{BB962C8B-B14F-4D97-AF65-F5344CB8AC3E}">
        <p14:creationId xmlns:p14="http://schemas.microsoft.com/office/powerpoint/2010/main" val="10375814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brand">
            <a:extLst xmlns:a="http://schemas.openxmlformats.org/drawingml/2006/main">
              <a:ext uri="{FF2B5EF4-FFF2-40B4-BE49-F238E27FC236}">
                <a16:creationId xmlns:a16="http://schemas.microsoft.com/office/drawing/2014/main" id="{33F2E697-52CE-414C-8433-F2FFB8C0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Axcend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14C4F083-5BA4-4C6C-85B4-A53CC450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429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297D3F-78DB-4C7B-8245-BF20EFE2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345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Самостоятельный доступ</a:t>
            </a:r>
          </a:p>
          <a:p xmlns:a="http://schemas.openxmlformats.org/drawingml/2006/main">
            <a:pPr algn="l">
              <a:defRPr sz="345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345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к данным и аналитике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D7E23D1-E95B-4264-9CBB-F54DC5BD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47B65"/>
                </a:solidFill>
                <a:latin typeface="Noto Sans"/>
                <a:ea typeface="Noto Sans"/>
                <a:cs typeface="Noto Sans"/>
              </a:defRPr>
            </a:pPr>
            <a:r>
              <a:rPr sz="2700" b="0">
                <a:solidFill>
                  <a:srgbClr val="247B65"/>
                </a:solidFill>
                <a:latin typeface="Noto Sans"/>
                <a:ea typeface="Noto Sans"/>
                <a:cs typeface="Noto Sans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A1787DE-6477-47C3-8B4B-1E8B72FF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225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Ваш запрос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E2B16C9-849C-47E8-9594-4D04BE05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323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Компания</a:t>
            </a:r>
          </a:p>
          <a:p xmlns:a="http://schemas.openxmlformats.org/drawingml/2006/main">
            <a:pPr algn="l">
              <a:defRPr sz="1950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или товар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E59CF11-421E-44C9-9A69-1751776D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860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47B65"/>
                </a:solidFill>
                <a:latin typeface="Noto Sans"/>
                <a:ea typeface="Noto Sans"/>
                <a:cs typeface="Noto Sans"/>
              </a:defRPr>
            </a:pPr>
            <a:r>
              <a:rPr sz="2700" b="0">
                <a:solidFill>
                  <a:srgbClr val="247B65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55173B6-7174-46CA-B7B1-A19F984B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8137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225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Записи и связи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201E475-B6E3-456D-8332-05B9A178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52875"/>
            <a:ext cx="323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Покупатели, поставщики</a:t>
            </a:r>
          </a:p>
          <a:p xmlns:a="http://schemas.openxmlformats.org/drawingml/2006/main">
            <a:pPr algn="l">
              <a:defRPr sz="1950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и торговые операции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F008E34-BEB9-4A38-A9AC-F1D2A34A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860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47B65"/>
                </a:solidFill>
                <a:latin typeface="Noto Sans"/>
                <a:ea typeface="Noto Sans"/>
                <a:cs typeface="Noto Sans"/>
              </a:defRPr>
            </a:pPr>
            <a:r>
              <a:rPr sz="2700" b="0">
                <a:solidFill>
                  <a:srgbClr val="247B65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BD3D816-CD96-4781-BAD6-D2556802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8137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225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Анализ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BC0A13A-02C0-4D73-968F-22AE49A2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52875"/>
            <a:ext cx="323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Цена, объём</a:t>
            </a:r>
          </a:p>
          <a:p xmlns:a="http://schemas.openxmlformats.org/drawingml/2006/main">
            <a:pPr algn="l">
              <a:defRPr sz="1950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и динамика</a:t>
            </a:r>
          </a:p>
        </p:txBody>
      </p:sp>
      <p:sp>
        <p:nvSpPr>
          <p:cNvPr id="13" name="conclusion">
            <a:extLst xmlns:a="http://schemas.openxmlformats.org/drawingml/2006/main">
              <a:ext uri="{FF2B5EF4-FFF2-40B4-BE49-F238E27FC236}">
                <a16:creationId xmlns:a16="http://schemas.microsoft.com/office/drawing/2014/main" id="{01A46D01-B1CF-4C32-88AB-B0109602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Вы сами выбираете объект исследования: клиента, конкурента,</a:t>
            </a:r>
          </a:p>
          <a:p xmlns:a="http://schemas.openxmlformats.org/drawingml/2006/main">
            <a:pPr algn="l">
              <a:defRPr sz="1875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поставщика или товарное направление.</a:t>
            </a:r>
          </a:p>
        </p:txBody>
      </p:sp>
    </p:spTree>
    <p:extLst>
      <p:ext uri="{BB962C8B-B14F-4D97-AF65-F5344CB8AC3E}">
        <p14:creationId xmlns:p14="http://schemas.microsoft.com/office/powerpoint/2010/main" val="8837835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rand">
            <a:extLst xmlns:a="http://schemas.openxmlformats.org/drawingml/2006/main">
              <a:ext uri="{FF2B5EF4-FFF2-40B4-BE49-F238E27FC236}">
                <a16:creationId xmlns:a16="http://schemas.microsoft.com/office/drawing/2014/main" id="{FF0BC81F-C14B-49E7-BB39-AFAB0894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Axcend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8A5F45F3-FA70-442C-9FC2-C73F4D18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429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sp>
        <p:nvSpPr>
          <p:cNvPr id="3" name="source">
            <a:extLst xmlns:a="http://schemas.openxmlformats.org/drawingml/2006/main">
              <a:ext uri="{FF2B5EF4-FFF2-40B4-BE49-F238E27FC236}">
                <a16:creationId xmlns:a16="http://schemas.microsoft.com/office/drawing/2014/main" id="{FD6AC90D-7590-44C7-AD3F-D4BE5857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Пример из платформы, 28 августа 2026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BBF1863-586A-4D9B-AEA0-2DD306EB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345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Закупка кофе на $172 068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A996689-68AE-4ED6-8BCF-4A70EE8A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Кофе Arabica из Руанды. Направление: США.</a:t>
            </a:r>
          </a:p>
        </p:txBody>
      </p:sp>
      <p:sp>
        <p:nvSpPr>
          <p:cNvPr id="6" name="key-number">
            <a:extLst xmlns:a="http://schemas.openxmlformats.org/drawingml/2006/main">
              <a:ext uri="{FF2B5EF4-FFF2-40B4-BE49-F238E27FC236}">
                <a16:creationId xmlns:a16="http://schemas.microsoft.com/office/drawing/2014/main" id="{CE86B6D1-138D-44D4-BEFD-7E5A5A80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4000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050" b="1">
                <a:solidFill>
                  <a:srgbClr val="247B65"/>
                </a:solidFill>
                <a:latin typeface="Noto Sans"/>
                <a:ea typeface="Noto Sans"/>
                <a:cs typeface="Noto Sans"/>
              </a:defRPr>
            </a:pPr>
            <a:r>
              <a:rPr sz="7050" b="1">
                <a:solidFill>
                  <a:srgbClr val="247B65"/>
                </a:solidFill>
                <a:latin typeface="Noto Sans"/>
                <a:ea typeface="Noto Sans"/>
                <a:cs typeface="Noto Sans"/>
              </a:rPr>
              <a:t>19,32 т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9B4E633-9BFD-47F1-8F8B-4AA33A33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Вес партии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B38D3B9-C835-4B44-91FD-6BD639CF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098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Поставщик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A38BDED-4A3D-4F73-BDBB-FF2EC861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533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DAVID &amp; FAMILY LTD.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5A61EC2-E099-453E-B466-D7A16838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862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Покупатель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B8352E0-71EE-429B-B675-DB6B6CD6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67200"/>
            <a:ext cx="533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COVOYA LTD.</a:t>
            </a:r>
          </a:p>
        </p:txBody>
      </p:sp>
      <p:sp>
        <p:nvSpPr>
          <p:cNvPr id="12" name="conclusion">
            <a:extLst xmlns:a="http://schemas.openxmlformats.org/drawingml/2006/main">
              <a:ext uri="{FF2B5EF4-FFF2-40B4-BE49-F238E27FC236}">
                <a16:creationId xmlns:a16="http://schemas.microsoft.com/office/drawing/2014/main" id="{9F72AAD8-7604-4E97-9CBA-11C7A368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Одна запись показывает участников и масштаб закупки.</a:t>
            </a:r>
          </a:p>
          <a:p xmlns:a="http://schemas.openxmlformats.org/drawingml/2006/main">
            <a:pPr algn="l">
              <a:defRPr sz="1875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История операций помогает изучить покупателя подробнее.</a:t>
            </a:r>
          </a:p>
        </p:txBody>
      </p:sp>
    </p:spTree>
    <p:extLst>
      <p:ext uri="{BB962C8B-B14F-4D97-AF65-F5344CB8AC3E}">
        <p14:creationId xmlns:p14="http://schemas.microsoft.com/office/powerpoint/2010/main" val="902326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3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rand">
            <a:extLst xmlns:a="http://schemas.openxmlformats.org/drawingml/2006/main">
              <a:ext uri="{FF2B5EF4-FFF2-40B4-BE49-F238E27FC236}">
                <a16:creationId xmlns:a16="http://schemas.microsoft.com/office/drawing/2014/main" id="{F990F120-357B-4E04-AE8D-9B33ED89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Axcend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40FF0A5D-2723-4D0E-B3B5-49C8C541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429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D1C7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BDD1C7"/>
                </a:solidFill>
                <a:latin typeface="Noto Sans"/>
                <a:ea typeface="Noto Sans"/>
                <a:cs typeface="Noto Sans"/>
              </a:rPr>
              <a:t>04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9A59C9-0EC7-4DDE-B014-4891FC9C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39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Что можно узнать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39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о компании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5313F81-6386-4B9D-9880-AE5DA5EB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4857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BDD1C7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BDD1C7"/>
                </a:solidFill>
                <a:latin typeface="Noto Sans"/>
                <a:ea typeface="Noto Sans"/>
                <a:cs typeface="Noto Sans"/>
              </a:rPr>
              <a:t>Торговая история связывает</a:t>
            </a:r>
          </a:p>
          <a:p xmlns:a="http://schemas.openxmlformats.org/drawingml/2006/main">
            <a:pPr algn="l">
              <a:defRPr sz="2025" b="0">
                <a:solidFill>
                  <a:srgbClr val="BDD1C7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BDD1C7"/>
                </a:solidFill>
                <a:latin typeface="Noto Sans"/>
                <a:ea typeface="Noto Sans"/>
                <a:cs typeface="Noto Sans"/>
              </a:rPr>
              <a:t>компанию с товарами,</a:t>
            </a:r>
          </a:p>
          <a:p xmlns:a="http://schemas.openxmlformats.org/drawingml/2006/main">
            <a:pPr algn="l">
              <a:defRPr sz="2025" b="0">
                <a:solidFill>
                  <a:srgbClr val="BDD1C7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BDD1C7"/>
                </a:solidFill>
                <a:latin typeface="Noto Sans"/>
                <a:ea typeface="Noto Sans"/>
                <a:cs typeface="Noto Sans"/>
              </a:rPr>
              <a:t>партнёрами и операциями.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C8986CA-5BC7-4EB9-A01A-87E4F864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81100"/>
            <a:ext cx="5286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С кем торгует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BD499A8-350B-4742-88A7-2FBDA0E0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5286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DD1C7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BDD1C7"/>
                </a:solidFill>
                <a:latin typeface="Noto Sans"/>
                <a:ea typeface="Noto Sans"/>
                <a:cs typeface="Noto Sans"/>
              </a:rPr>
              <a:t>Покупатели и поставщики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A938AD9-2812-4BA1-AB07-513930B1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5286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Что закупает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CBCA307-AEE0-4393-9850-9CCD87F5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5286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DD1C7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BDD1C7"/>
                </a:solidFill>
                <a:latin typeface="Noto Sans"/>
                <a:ea typeface="Noto Sans"/>
                <a:cs typeface="Noto Sans"/>
              </a:rPr>
              <a:t>Товар и код ТН ВЭД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50C1D76-74CD-4E9F-8E03-4C94E608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5286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Как часто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E5544EF-F266-407E-B680-5F08C0EE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57650"/>
            <a:ext cx="5286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DD1C7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BDD1C7"/>
                </a:solidFill>
                <a:latin typeface="Noto Sans"/>
                <a:ea typeface="Noto Sans"/>
                <a:cs typeface="Noto Sans"/>
              </a:rPr>
              <a:t>Даты и повторяемость операций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BF7C652-F632-48DA-A2A7-34213040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38700"/>
            <a:ext cx="5286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В каком масштабе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A9535CE-6010-4348-902F-3F677373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76850"/>
            <a:ext cx="5286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DD1C7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BDD1C7"/>
                </a:solidFill>
                <a:latin typeface="Noto Sans"/>
                <a:ea typeface="Noto Sans"/>
                <a:cs typeface="Noto Sans"/>
              </a:rPr>
              <a:t>Цена, объём и география</a:t>
            </a:r>
          </a:p>
        </p:txBody>
      </p:sp>
    </p:spTree>
    <p:extLst>
      <p:ext uri="{BB962C8B-B14F-4D97-AF65-F5344CB8AC3E}">
        <p14:creationId xmlns:p14="http://schemas.microsoft.com/office/powerpoint/2010/main" val="6975493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rand">
            <a:extLst xmlns:a="http://schemas.openxmlformats.org/drawingml/2006/main">
              <a:ext uri="{FF2B5EF4-FFF2-40B4-BE49-F238E27FC236}">
                <a16:creationId xmlns:a16="http://schemas.microsoft.com/office/drawing/2014/main" id="{8C11BE75-1189-4F85-9AF5-B505E99F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Axcend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01B6BFBC-7937-412A-BE22-322619B8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429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05</a:t>
            </a:r>
          </a:p>
        </p:txBody>
      </p:sp>
      <p:sp>
        <p:nvSpPr>
          <p:cNvPr id="3" name="source">
            <a:extLst xmlns:a="http://schemas.openxmlformats.org/drawingml/2006/main">
              <a:ext uri="{FF2B5EF4-FFF2-40B4-BE49-F238E27FC236}">
                <a16:creationId xmlns:a16="http://schemas.microsoft.com/office/drawing/2014/main" id="{82C3EE72-A70E-45D0-888D-F31455C2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Примеры из платформы, 19–28 августа 2026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E418620-5AE1-4536-808A-ED28F643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345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Кто уже покупает ваш товар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2BEFE5F-2AF0-4283-83D4-2D0BA138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Кофе, направление США. Четыре компании из торговых записей.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2524125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6858000"/>
                <a:gridCol w="1619250"/>
                <a:gridCol w="2495550"/>
              </a:tblGrid>
              <a:tr h="495300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586D66"/>
                          </a:solidFill>
                          <a:latin typeface="Noto Sans"/>
                          <a:ea typeface="Noto Sans"/>
                          <a:cs typeface="Noto Sans"/>
                        </a:rPr>
                        <a:t>Покупатель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E8EEE8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r"/>
                      <a:r>
                        <a:rPr sz="1500" b="1">
                          <a:solidFill>
                            <a:srgbClr val="586D66"/>
                          </a:solidFill>
                          <a:latin typeface="Noto Sans"/>
                          <a:ea typeface="Noto Sans"/>
                          <a:cs typeface="Noto Sans"/>
                        </a:rPr>
                        <a:t>Вес, т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E8EEE8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r"/>
                      <a:r>
                        <a:rPr sz="1500" b="1">
                          <a:solidFill>
                            <a:srgbClr val="586D66"/>
                          </a:solidFill>
                          <a:latin typeface="Noto Sans"/>
                          <a:ea typeface="Noto Sans"/>
                          <a:cs typeface="Noto Sans"/>
                        </a:rPr>
                        <a:t>Дата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E8EEE8"/>
                    </a:solidFill>
                  </a:tcPr>
                </a:tc>
              </a:tr>
              <a:tr h="590550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COVOYA LTD.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19,32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28.08.2026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</a:tr>
              <a:tr h="590550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RTC DORMAN LIMITED COMPANY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76,80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27.08.2026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</a:tr>
              <a:tr h="590550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OSITO COFFEE LLC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19,52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20.08.2026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</a:tr>
              <a:tr h="590550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CAFE IMPORTS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7F7F2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19,20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7F7F2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19.08.2026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7F7F2"/>
                    </a:solidFill>
                  </a:tcPr>
                </a:tc>
              </a:tr>
            </a:tbl>
          </a:graphicData>
        </a:graphic>
      </p:graphicFrame>
      <p:sp>
        <p:nvSpPr>
          <p:cNvPr id="7" name="conclusion">
            <a:extLst xmlns:a="http://schemas.openxmlformats.org/drawingml/2006/main">
              <a:ext uri="{FF2B5EF4-FFF2-40B4-BE49-F238E27FC236}">
                <a16:creationId xmlns:a16="http://schemas.microsoft.com/office/drawing/2014/main" id="{0B39C742-0EE8-44EF-A6F2-03F4586A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История каждого покупателя поможет сопоставить</a:t>
            </a:r>
          </a:p>
          <a:p xmlns:a="http://schemas.openxmlformats.org/drawingml/2006/main">
            <a:pPr algn="l">
              <a:defRPr sz="1875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его закупки с вашим ассортиментом и объёмом поставки.</a:t>
            </a:r>
          </a:p>
        </p:txBody>
      </p:sp>
    </p:spTree>
    <p:extLst>
      <p:ext uri="{BB962C8B-B14F-4D97-AF65-F5344CB8AC3E}">
        <p14:creationId xmlns:p14="http://schemas.microsoft.com/office/powerpoint/2010/main" val="12622437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rand">
            <a:extLst xmlns:a="http://schemas.openxmlformats.org/drawingml/2006/main">
              <a:ext uri="{FF2B5EF4-FFF2-40B4-BE49-F238E27FC236}">
                <a16:creationId xmlns:a16="http://schemas.microsoft.com/office/drawing/2014/main" id="{864C9FC6-DDF3-49F9-87B1-BF269B51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Axcend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30BB88C5-5D69-445F-88F3-48B51496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429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06</a:t>
            </a:r>
          </a:p>
        </p:txBody>
      </p:sp>
      <p:sp>
        <p:nvSpPr>
          <p:cNvPr id="3" name="source">
            <a:extLst xmlns:a="http://schemas.openxmlformats.org/drawingml/2006/main">
              <a:ext uri="{FF2B5EF4-FFF2-40B4-BE49-F238E27FC236}">
                <a16:creationId xmlns:a16="http://schemas.microsoft.com/office/drawing/2014/main" id="{E213AA8A-15A7-4335-9B7D-4EEF5829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LUIGI LAVAZZA S.P.A., январь–июнь 2026. История поставок: 21 сентября 2026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E4CEEB8-D002-490D-95CF-B29C14E9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345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Поставки Lavazza в США</a:t>
            </a:r>
          </a:p>
          <a:p xmlns:a="http://schemas.openxmlformats.org/drawingml/2006/main">
            <a:pPr algn="l">
              <a:defRPr sz="345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345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выросли за полугодие</a:t>
            </a:r>
          </a:p>
        </p:txBody>
      </p:sp>
      <p:sp>
        <p:nvSpPr>
          <p:cNvPr id="5" name="key-number">
            <a:extLst xmlns:a="http://schemas.openxmlformats.org/drawingml/2006/main">
              <a:ext uri="{FF2B5EF4-FFF2-40B4-BE49-F238E27FC236}">
                <a16:creationId xmlns:a16="http://schemas.microsoft.com/office/drawing/2014/main" id="{10D3EE5F-33DF-4564-A3E3-E40BEDDE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3286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50" b="1">
                <a:solidFill>
                  <a:srgbClr val="247B65"/>
                </a:solidFill>
                <a:latin typeface="Noto Sans"/>
                <a:ea typeface="Noto Sans"/>
                <a:cs typeface="Noto Sans"/>
              </a:defRPr>
            </a:pPr>
            <a:r>
              <a:rPr sz="7350" b="1">
                <a:solidFill>
                  <a:srgbClr val="247B65"/>
                </a:solidFill>
                <a:latin typeface="Noto Sans"/>
                <a:ea typeface="Noto Sans"/>
                <a:cs typeface="Noto Sans"/>
              </a:rPr>
              <a:t>1,55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4E16EF9-5710-403E-BEE5-7FA80EB1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3286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млн кг в июне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CB676AA-F3C8-4439-BE2C-6F8FE778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3286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0,63 млн кг</a:t>
            </a:r>
          </a:p>
          <a:p xmlns:a="http://schemas.openxmlformats.org/drawingml/2006/main">
            <a:pPr algn="l">
              <a:defRPr sz="1950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в январе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143375" y="2476500"/>
          <a:ext xmlns:a="http://schemas.openxmlformats.org/drawingml/2006/main" cx="7429500" cy="3171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0c443d787724a30"/>
          </a:graphicData>
        </a:graphic>
      </p:graphicFrame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10CC3B4-E273-4DE1-B658-21AAFAC0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162175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Вес, млн кг</a:t>
            </a:r>
          </a:p>
        </p:txBody>
      </p:sp>
      <p:sp>
        <p:nvSpPr>
          <p:cNvPr id="10" name="conclusion">
            <a:extLst xmlns:a="http://schemas.openxmlformats.org/drawingml/2006/main">
              <a:ext uri="{FF2B5EF4-FFF2-40B4-BE49-F238E27FC236}">
                <a16:creationId xmlns:a16="http://schemas.microsoft.com/office/drawing/2014/main" id="{90D2DBF7-DE01-47CD-B886-D3946B31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9055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Получатель в истории: LAVAZZA NORTH AMERICA INC.</a:t>
            </a:r>
          </a:p>
        </p:txBody>
      </p:sp>
    </p:spTree>
    <p:extLst>
      <p:ext uri="{BB962C8B-B14F-4D97-AF65-F5344CB8AC3E}">
        <p14:creationId xmlns:p14="http://schemas.microsoft.com/office/powerpoint/2010/main" val="837913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rand">
            <a:extLst xmlns:a="http://schemas.openxmlformats.org/drawingml/2006/main">
              <a:ext uri="{FF2B5EF4-FFF2-40B4-BE49-F238E27FC236}">
                <a16:creationId xmlns:a16="http://schemas.microsoft.com/office/drawing/2014/main" id="{FF294FF3-F30D-4B83-A051-6C2111C7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Axcend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0EC7AFF9-2AC5-45AE-92DF-C1B25DC2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429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07</a:t>
            </a:r>
          </a:p>
        </p:txBody>
      </p:sp>
      <p:sp>
        <p:nvSpPr>
          <p:cNvPr id="3" name="source">
            <a:extLst xmlns:a="http://schemas.openxmlformats.org/drawingml/2006/main">
              <a:ext uri="{FF2B5EF4-FFF2-40B4-BE49-F238E27FC236}">
                <a16:creationId xmlns:a16="http://schemas.microsoft.com/office/drawing/2014/main" id="{49197319-EBC3-4A3E-8AAA-091334EB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Примеры из платформы, 31 августа – 1 сентября 2026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F174C42-B79E-4746-821C-1C9386DA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345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Поставщики PET из трёх стран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FD11701-ECC6-4029-9C11-F1184774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ТН ВЭД 390761. Торговые записи на направлении Индии.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2505075"/>
          <a:ext xmlns:a="http://schemas.openxmlformats.org/drawingml/2006/main" cx="10972800" cy="3009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6477000"/>
                <a:gridCol w="2952750"/>
                <a:gridCol w="1543050"/>
              </a:tblGrid>
              <a:tr h="476250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586D66"/>
                          </a:solidFill>
                          <a:latin typeface="Noto Sans"/>
                          <a:ea typeface="Noto Sans"/>
                          <a:cs typeface="Noto Sans"/>
                        </a:rPr>
                        <a:t>Поставщик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E8EEE8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586D66"/>
                          </a:solidFill>
                          <a:latin typeface="Noto Sans"/>
                          <a:ea typeface="Noto Sans"/>
                          <a:cs typeface="Noto Sans"/>
                        </a:rPr>
                        <a:t>Происхождение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E8EEE8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r"/>
                      <a:r>
                        <a:rPr sz="1500" b="1">
                          <a:solidFill>
                            <a:srgbClr val="586D66"/>
                          </a:solidFill>
                          <a:latin typeface="Noto Sans"/>
                          <a:ea typeface="Noto Sans"/>
                          <a:cs typeface="Noto Sans"/>
                        </a:rPr>
                        <a:t>Вес, т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E8EEE8"/>
                    </a:solidFill>
                  </a:tcPr>
                </a:tc>
              </a:tr>
              <a:tr h="571500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PT. BUMI INDUS PADMA JAYA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Индонезия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92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</a:tr>
              <a:tr h="819150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BILLION INDUSTRIAL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(VIETNAM) CO.,LTD.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Вьетнам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46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</a:tr>
              <a:tr h="571500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HAOSHENG VINA CO.,LTD.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Вьетнам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115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</a:tr>
              <a:tr h="571500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MEGHNA PVC LIMITED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7F7F2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Бангладеш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7F7F2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11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7F7F2"/>
                    </a:solidFill>
                  </a:tcPr>
                </a:tc>
              </a:tr>
            </a:tbl>
          </a:graphicData>
        </a:graphic>
      </p:graphicFrame>
      <p:sp>
        <p:nvSpPr>
          <p:cNvPr id="7" name="conclusion">
            <a:extLst xmlns:a="http://schemas.openxmlformats.org/drawingml/2006/main">
              <a:ext uri="{FF2B5EF4-FFF2-40B4-BE49-F238E27FC236}">
                <a16:creationId xmlns:a16="http://schemas.microsoft.com/office/drawing/2014/main" id="{92108358-8902-4514-831E-A6265E68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Из этих записей можно составить список поставщиков</a:t>
            </a:r>
          </a:p>
          <a:p xmlns:a="http://schemas.openxmlformats.org/drawingml/2006/main">
            <a:pPr algn="l">
              <a:defRPr sz="180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и запросить предложения по нужной марке PET и размеру партии.</a:t>
            </a:r>
          </a:p>
        </p:txBody>
      </p:sp>
    </p:spTree>
    <p:extLst>
      <p:ext uri="{BB962C8B-B14F-4D97-AF65-F5344CB8AC3E}">
        <p14:creationId xmlns:p14="http://schemas.microsoft.com/office/powerpoint/2010/main" val="21094444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rand">
            <a:extLst xmlns:a="http://schemas.openxmlformats.org/drawingml/2006/main">
              <a:ext uri="{FF2B5EF4-FFF2-40B4-BE49-F238E27FC236}">
                <a16:creationId xmlns:a16="http://schemas.microsoft.com/office/drawing/2014/main" id="{907F4D29-74F6-4CD7-A2E9-D2D0A60E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Axcend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1EC4E75F-9D33-4D4A-9149-CD504AF0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429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08</a:t>
            </a:r>
          </a:p>
        </p:txBody>
      </p:sp>
      <p:sp>
        <p:nvSpPr>
          <p:cNvPr id="3" name="source">
            <a:extLst xmlns:a="http://schemas.openxmlformats.org/drawingml/2006/main">
              <a:ext uri="{FF2B5EF4-FFF2-40B4-BE49-F238E27FC236}">
                <a16:creationId xmlns:a16="http://schemas.microsoft.com/office/drawing/2014/main" id="{0BBBC916-4ADC-4F2A-9892-A8F120D9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TRAMONTINA GARIBALDI S.A., запись от 1 июля 2026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C1AC9EE-9226-4001-88D9-E2CF85CF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345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Что ещё закупает ваш клиент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1F9FA53-54FE-4D02-BECB-490FB46A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44291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285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TRAMONTINA</a:t>
            </a:r>
          </a:p>
          <a:p xmlns:a="http://schemas.openxmlformats.org/drawingml/2006/main">
            <a:pPr algn="l">
              <a:defRPr sz="285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285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GARIBALDI S.A.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588B585-7D44-4602-A073-C80AF00F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4619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В одном товарном описании</a:t>
            </a:r>
          </a:p>
          <a:p xmlns:a="http://schemas.openxmlformats.org/drawingml/2006/main">
            <a:pPr algn="l">
              <a:defRPr sz="1950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присутствуют связанные категории.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fc92b26bab4e05"/>
          <a:srcRect xmlns:a="http://schemas.openxmlformats.org/drawingml/2006/main" l="0" t="10361" r="0" b="103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2085975"/>
            <a:ext cx="5676900" cy="3000375"/>
          </a:xfrm>
          <a:prstGeom xmlns:a="http://schemas.openxmlformats.org/drawingml/2006/main" prst="rect">
            <a:avLst/>
          </a:prstGeom>
        </p:spPr>
      </p:pic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BC4AF24-430B-4C3F-9EC9-E05A2806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05400"/>
            <a:ext cx="200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Аккумуляторные</a:t>
            </a:r>
          </a:p>
          <a:p xmlns:a="http://schemas.openxmlformats.org/drawingml/2006/main">
            <a:pPr algn="l">
              <a:defRPr sz="165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инструменты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A289A54-2F0D-4B08-8ED9-C072D48F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05400"/>
            <a:ext cx="180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Литийионные</a:t>
            </a:r>
          </a:p>
          <a:p xmlns:a="http://schemas.openxmlformats.org/drawingml/2006/main">
            <a:pPr algn="l">
              <a:defRPr sz="165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аккумуляторы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21E4D18-F168-45EE-8BA7-39E5EBD6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105400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Зарядные</a:t>
            </a:r>
          </a:p>
          <a:p xmlns:a="http://schemas.openxmlformats.org/drawingml/2006/main">
            <a:pPr algn="l">
              <a:defRPr sz="165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устройства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4A3170C-F9C1-4CA5-ABAC-4477703D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9721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Иллюстрация товарных категорий</a:t>
            </a:r>
          </a:p>
        </p:txBody>
      </p:sp>
      <p:sp>
        <p:nvSpPr>
          <p:cNvPr id="12" name="conclusion">
            <a:extLst xmlns:a="http://schemas.openxmlformats.org/drawingml/2006/main">
              <a:ext uri="{FF2B5EF4-FFF2-40B4-BE49-F238E27FC236}">
                <a16:creationId xmlns:a16="http://schemas.microsoft.com/office/drawing/2014/main" id="{739F8D46-BE41-4A3F-8B1D-779DE463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4810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Смежный ассортимент даёт повод</a:t>
            </a:r>
          </a:p>
          <a:p xmlns:a="http://schemas.openxmlformats.org/drawingml/2006/main">
            <a:pPr algn="l">
              <a:defRPr sz="1875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для нового предложения клиенту.</a:t>
            </a:r>
          </a:p>
        </p:txBody>
      </p:sp>
    </p:spTree>
    <p:extLst>
      <p:ext uri="{BB962C8B-B14F-4D97-AF65-F5344CB8AC3E}">
        <p14:creationId xmlns:p14="http://schemas.microsoft.com/office/powerpoint/2010/main" val="6810876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rand">
            <a:extLst xmlns:a="http://schemas.openxmlformats.org/drawingml/2006/main">
              <a:ext uri="{FF2B5EF4-FFF2-40B4-BE49-F238E27FC236}">
                <a16:creationId xmlns:a16="http://schemas.microsoft.com/office/drawing/2014/main" id="{D882EDCD-3B16-4926-B797-D7C09243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Axcend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7B07DB43-DF3C-4ECA-91ED-740E5AF1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429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09</a:t>
            </a:r>
          </a:p>
        </p:txBody>
      </p:sp>
      <p:sp>
        <p:nvSpPr>
          <p:cNvPr id="3" name="source">
            <a:extLst xmlns:a="http://schemas.openxmlformats.org/drawingml/2006/main">
              <a:ext uri="{FF2B5EF4-FFF2-40B4-BE49-F238E27FC236}">
                <a16:creationId xmlns:a16="http://schemas.microsoft.com/office/drawing/2014/main" id="{BAF4D61C-7BB4-4A22-8C07-D91D4AC2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PET P633-2, bottle AA grade. Вьетнам / Индия, 31 августа 2026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0547133-3465-4250-8086-363D2EA5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345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Одна цена при разном</a:t>
            </a:r>
          </a:p>
          <a:p xmlns:a="http://schemas.openxmlformats.org/drawingml/2006/main">
            <a:pPr algn="l">
              <a:defRPr sz="345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345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размере партии</a:t>
            </a:r>
          </a:p>
        </p:txBody>
      </p:sp>
      <p:sp>
        <p:nvSpPr>
          <p:cNvPr id="5" name="key-number">
            <a:extLst xmlns:a="http://schemas.openxmlformats.org/drawingml/2006/main">
              <a:ext uri="{FF2B5EF4-FFF2-40B4-BE49-F238E27FC236}">
                <a16:creationId xmlns:a16="http://schemas.microsoft.com/office/drawing/2014/main" id="{05F3C470-2A41-4316-86BF-59B630D0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4000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247B65"/>
                </a:solidFill>
                <a:latin typeface="Noto Sans"/>
                <a:ea typeface="Noto Sans"/>
                <a:cs typeface="Noto Sans"/>
              </a:defRPr>
            </a:pPr>
            <a:r>
              <a:rPr sz="6900" b="1">
                <a:solidFill>
                  <a:srgbClr val="247B65"/>
                </a:solidFill>
                <a:latin typeface="Noto Sans"/>
                <a:ea typeface="Noto Sans"/>
                <a:cs typeface="Noto Sans"/>
              </a:rPr>
              <a:t>1,095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871AEE0-D437-4AAC-B28F-66C6F870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доллара за кг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7BC9CC0-1C1D-4ABD-A321-C627ECC5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390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Одинаковая цена</a:t>
            </a:r>
          </a:p>
          <a:p xmlns:a="http://schemas.openxmlformats.org/drawingml/2006/main">
            <a:pPr algn="l">
              <a:defRPr sz="1950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в трёх записях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219700" y="2667000"/>
          <a:ext xmlns:a="http://schemas.openxmlformats.org/drawingml/2006/main" cx="6362700" cy="2667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504950"/>
                <a:gridCol w="2038350"/>
                <a:gridCol w="2819400"/>
              </a:tblGrid>
              <a:tr h="552450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586D66"/>
                          </a:solidFill>
                          <a:latin typeface="Noto Sans"/>
                          <a:ea typeface="Noto Sans"/>
                          <a:cs typeface="Noto Sans"/>
                        </a:rPr>
                        <a:t>Вес, т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E8EEE8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586D66"/>
                          </a:solidFill>
                          <a:latin typeface="Noto Sans"/>
                          <a:ea typeface="Noto Sans"/>
                          <a:cs typeface="Noto Sans"/>
                        </a:rPr>
                        <a:t>Цена, $/кг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E8EEE8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586D66"/>
                          </a:solidFill>
                          <a:latin typeface="Noto Sans"/>
                          <a:ea typeface="Noto Sans"/>
                          <a:cs typeface="Noto Sans"/>
                        </a:rPr>
                        <a:t>Стоимость, $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E8EEE8"/>
                    </a:solidFill>
                  </a:tcPr>
                </a:tc>
              </a:tr>
              <a:tr h="704850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r"/>
                      <a:r>
                        <a:rPr sz="2100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46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r"/>
                      <a:r>
                        <a:rPr sz="2100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1,095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r"/>
                      <a:r>
                        <a:rPr sz="2100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50 370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</a:tr>
              <a:tr h="704850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r"/>
                      <a:r>
                        <a:rPr sz="2100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69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r"/>
                      <a:r>
                        <a:rPr sz="2100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1,095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r"/>
                      <a:r>
                        <a:rPr sz="2100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75 555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</a:tr>
              <a:tr h="704850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r"/>
                      <a:r>
                        <a:rPr sz="2100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115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7F7F2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r"/>
                      <a:r>
                        <a:rPr sz="2100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1,095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7F7F2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r"/>
                      <a:r>
                        <a:rPr sz="2100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125 925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7F7F2"/>
                    </a:solidFill>
                  </a:tcPr>
                </a:tc>
              </a:tr>
            </a:tbl>
          </a:graphicData>
        </a:graphic>
      </p:graphicFrame>
      <p:sp>
        <p:nvSpPr>
          <p:cNvPr id="9" name="conclusion">
            <a:extLst xmlns:a="http://schemas.openxmlformats.org/drawingml/2006/main">
              <a:ext uri="{FF2B5EF4-FFF2-40B4-BE49-F238E27FC236}">
                <a16:creationId xmlns:a16="http://schemas.microsoft.com/office/drawing/2014/main" id="{DDCA05FF-4E5D-4A15-89AA-0EF78F7A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Марка товара, размер партии и цена дают предметную основу</a:t>
            </a:r>
          </a:p>
          <a:p xmlns:a="http://schemas.openxmlformats.org/drawingml/2006/main">
            <a:pPr algn="l">
              <a:defRPr sz="180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для обсуждения новой поставки.</a:t>
            </a:r>
          </a:p>
        </p:txBody>
      </p:sp>
    </p:spTree>
    <p:extLst>
      <p:ext uri="{BB962C8B-B14F-4D97-AF65-F5344CB8AC3E}">
        <p14:creationId xmlns:p14="http://schemas.microsoft.com/office/powerpoint/2010/main" val="14564009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rand">
            <a:extLst xmlns:a="http://schemas.openxmlformats.org/drawingml/2006/main">
              <a:ext uri="{FF2B5EF4-FFF2-40B4-BE49-F238E27FC236}">
                <a16:creationId xmlns:a16="http://schemas.microsoft.com/office/drawing/2014/main" id="{D0DD582D-2E95-4143-A823-AE748F4F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Axcend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2B29EC24-E1F5-419E-8207-45C09B98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429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10</a:t>
            </a:r>
          </a:p>
        </p:txBody>
      </p:sp>
      <p:sp>
        <p:nvSpPr>
          <p:cNvPr id="3" name="source">
            <a:extLst xmlns:a="http://schemas.openxmlformats.org/drawingml/2006/main">
              <a:ext uri="{FF2B5EF4-FFF2-40B4-BE49-F238E27FC236}">
                <a16:creationId xmlns:a16="http://schemas.microsoft.com/office/drawing/2014/main" id="{19DEB9D6-F8C6-476D-9C01-B21C3879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Импорт солнечных модулей из Китая, январь–июнь 2026. ТН ВЭД 854143. Стоимость CIF.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CDDC6E7-FEBB-4147-8B94-F790AFD0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345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Бразилия лидирует</a:t>
            </a:r>
          </a:p>
          <a:p xmlns:a="http://schemas.openxmlformats.org/drawingml/2006/main">
            <a:pPr algn="l">
              <a:defRPr sz="345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345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в этой выборке</a:t>
            </a:r>
          </a:p>
        </p:txBody>
      </p:sp>
      <p:sp>
        <p:nvSpPr>
          <p:cNvPr id="5" name="key-number">
            <a:extLst xmlns:a="http://schemas.openxmlformats.org/drawingml/2006/main">
              <a:ext uri="{FF2B5EF4-FFF2-40B4-BE49-F238E27FC236}">
                <a16:creationId xmlns:a16="http://schemas.microsoft.com/office/drawing/2014/main" id="{6142DDDD-BE85-4DFF-B06A-E05173C6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3714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247B65"/>
                </a:solidFill>
                <a:latin typeface="Noto Sans"/>
                <a:ea typeface="Noto Sans"/>
                <a:cs typeface="Noto Sans"/>
              </a:defRPr>
            </a:pPr>
            <a:r>
              <a:rPr sz="6000" b="1">
                <a:solidFill>
                  <a:srgbClr val="247B65"/>
                </a:solidFill>
                <a:latin typeface="Noto Sans"/>
                <a:ea typeface="Noto Sans"/>
                <a:cs typeface="Noto Sans"/>
              </a:rPr>
              <a:t>567,56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8864643-99A9-4E7E-8410-EB7B0898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млн долларов США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E4D60ED-3EBA-4ACF-BCAC-08283992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3524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Импорт солнечных</a:t>
            </a:r>
          </a:p>
          <a:p xmlns:a="http://schemas.openxmlformats.org/drawingml/2006/main">
            <a:pPr algn="l">
              <a:defRPr sz="1875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модулей из Китая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429125" y="2505075"/>
          <a:ext xmlns:a="http://schemas.openxmlformats.org/drawingml/2006/main" cx="714375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349cf9871af4d24"/>
          </a:graphicData>
        </a:graphic>
      </p:graphicFrame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7103D37-FEC5-4F79-B275-CC9DBF61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62175"/>
            <a:ext cx="714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Стоимость CIF, млн долларов США</a:t>
            </a:r>
          </a:p>
        </p:txBody>
      </p:sp>
      <p:sp>
        <p:nvSpPr>
          <p:cNvPr id="10" name="conclusion">
            <a:extLst xmlns:a="http://schemas.openxmlformats.org/drawingml/2006/main">
              <a:ext uri="{FF2B5EF4-FFF2-40B4-BE49-F238E27FC236}">
                <a16:creationId xmlns:a16="http://schemas.microsoft.com/office/drawing/2014/main" id="{4104D16B-C3A6-4933-8F40-223248B5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734050"/>
            <a:ext cx="712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После сравнения направлений можно перейти</a:t>
            </a:r>
          </a:p>
          <a:p xmlns:a="http://schemas.openxmlformats.org/drawingml/2006/main">
            <a:pPr algn="l">
              <a:defRPr sz="180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к изучению конкретных импортёров.</a:t>
            </a:r>
          </a:p>
        </p:txBody>
      </p:sp>
    </p:spTree>
    <p:extLst>
      <p:ext uri="{BB962C8B-B14F-4D97-AF65-F5344CB8AC3E}">
        <p14:creationId xmlns:p14="http://schemas.microsoft.com/office/powerpoint/2010/main" val="10042689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rand">
            <a:extLst xmlns:a="http://schemas.openxmlformats.org/drawingml/2006/main">
              <a:ext uri="{FF2B5EF4-FFF2-40B4-BE49-F238E27FC236}">
                <a16:creationId xmlns:a16="http://schemas.microsoft.com/office/drawing/2014/main" id="{136BE078-8EAF-40EF-92C7-E2D6F131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Axcend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D9241EEC-9930-4EF7-8374-2741A6C3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429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11</a:t>
            </a:r>
          </a:p>
        </p:txBody>
      </p:sp>
      <p:sp>
        <p:nvSpPr>
          <p:cNvPr id="3" name="source">
            <a:extLst xmlns:a="http://schemas.openxmlformats.org/drawingml/2006/main">
              <a:ext uri="{FF2B5EF4-FFF2-40B4-BE49-F238E27FC236}">
                <a16:creationId xmlns:a16="http://schemas.microsoft.com/office/drawing/2014/main" id="{3369ECFF-C1FE-47EB-B9E5-B6A71A9F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Примеры: кофе, август 2026. Lavazza, сентябрь 2026. PET, август–сентябрь 2026. Tramontina, июль 2026.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B9865B4-9950-49D8-B12C-90165D0D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345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География торговых операций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209800"/>
          <a:ext xmlns:a="http://schemas.openxmlformats.org/drawingml/2006/main" cx="10972800" cy="31813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14625"/>
                <a:gridCol w="2714625"/>
                <a:gridCol w="5543550"/>
              </a:tblGrid>
              <a:tr h="514350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586D66"/>
                          </a:solidFill>
                          <a:latin typeface="Noto Sans"/>
                          <a:ea typeface="Noto Sans"/>
                          <a:cs typeface="Noto Sans"/>
                        </a:rPr>
                        <a:t>Происхождение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E8EEE8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586D66"/>
                          </a:solidFill>
                          <a:latin typeface="Noto Sans"/>
                          <a:ea typeface="Noto Sans"/>
                          <a:cs typeface="Noto Sans"/>
                        </a:rPr>
                        <a:t>Направление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E8EEE8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586D66"/>
                          </a:solidFill>
                          <a:latin typeface="Noto Sans"/>
                          <a:ea typeface="Noto Sans"/>
                          <a:cs typeface="Noto Sans"/>
                        </a:rPr>
                        <a:t>Пример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E8EEE8"/>
                    </a:solidFill>
                  </a:tcPr>
                </a:tc>
              </a:tr>
              <a:tr h="666750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Руанда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США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COVOYA LTD.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</a:tr>
              <a:tr h="666750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Италия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США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LUIGI LAVAZZA S.P.A.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</a:tr>
              <a:tr h="666750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Вьетнам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Индия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PET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</a:tr>
              <a:tr h="666750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Китай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7F7F2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Бразилия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7F7F2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TRAMONTINA GARIBALDI S.A.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7F7F2"/>
                    </a:solidFill>
                  </a:tcPr>
                </a:tc>
              </a:tr>
            </a:tbl>
          </a:graphicData>
        </a:graphic>
      </p:graphicFrame>
      <p:sp>
        <p:nvSpPr>
          <p:cNvPr id="6" name="conclusion">
            <a:extLst xmlns:a="http://schemas.openxmlformats.org/drawingml/2006/main">
              <a:ext uri="{FF2B5EF4-FFF2-40B4-BE49-F238E27FC236}">
                <a16:creationId xmlns:a16="http://schemas.microsoft.com/office/drawing/2014/main" id="{F7ED66F6-2508-418B-B3C7-4BA336FE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Географию дополняют сведения о портах</a:t>
            </a:r>
          </a:p>
          <a:p xmlns:a="http://schemas.openxmlformats.org/drawingml/2006/main">
            <a:pPr algn="l">
              <a:defRPr sz="1875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и способах перевозки: море, воздух, суша.</a:t>
            </a:r>
          </a:p>
        </p:txBody>
      </p:sp>
    </p:spTree>
    <p:extLst>
      <p:ext uri="{BB962C8B-B14F-4D97-AF65-F5344CB8AC3E}">
        <p14:creationId xmlns:p14="http://schemas.microsoft.com/office/powerpoint/2010/main" val="212192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23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brand">
            <a:extLst xmlns:a="http://schemas.openxmlformats.org/drawingml/2006/main">
              <a:ext uri="{FF2B5EF4-FFF2-40B4-BE49-F238E27FC236}">
                <a16:creationId xmlns:a16="http://schemas.microsoft.com/office/drawing/2014/main" id="{BBF3A270-4FD7-4C6F-BDDD-4B82CEA6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Axcend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E606A7AD-45F8-4053-AB41-37ED5958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429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D1C7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BDD1C7"/>
                </a:solidFill>
                <a:latin typeface="Noto Sans"/>
                <a:ea typeface="Noto Sans"/>
                <a:cs typeface="Noto Sans"/>
              </a:rPr>
              <a:t>12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EA9F4AF-CF6E-494A-831E-AB6CD480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37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Дистрибьюторы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37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и торговые партнёры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DAC6BE3-A15E-4974-90ED-A3B49AB7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BDD1C7"/>
                </a:solidFill>
                <a:latin typeface="Noto Sans"/>
                <a:ea typeface="Noto Sans"/>
                <a:cs typeface="Noto Sans"/>
              </a:defRPr>
            </a:pPr>
            <a:r>
              <a:rPr sz="2700" b="0">
                <a:solidFill>
                  <a:srgbClr val="BDD1C7"/>
                </a:solidFill>
                <a:latin typeface="Noto Sans"/>
                <a:ea typeface="Noto Sans"/>
                <a:cs typeface="Noto Sans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15947EC-BC4E-4231-8D47-8AFAB810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333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Товар и направление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98C0337-61C2-4CF0-9E49-1819D48E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333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DD1C7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BDD1C7"/>
                </a:solidFill>
                <a:latin typeface="Noto Sans"/>
                <a:ea typeface="Noto Sans"/>
                <a:cs typeface="Noto Sans"/>
              </a:rPr>
              <a:t>Исходные условия поиска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45FB70F-090F-403E-AB51-3918A9E0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8765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BDD1C7"/>
                </a:solidFill>
                <a:latin typeface="Noto Sans"/>
                <a:ea typeface="Noto Sans"/>
                <a:cs typeface="Noto Sans"/>
              </a:defRPr>
            </a:pPr>
            <a:r>
              <a:rPr sz="2700" b="0">
                <a:solidFill>
                  <a:srgbClr val="BDD1C7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6BBE416-AB84-4364-993E-F32BADE2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581400"/>
            <a:ext cx="333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Покупатели категории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575D82B-860B-4B07-90EF-79FC0ACB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486275"/>
            <a:ext cx="333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DD1C7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BDD1C7"/>
                </a:solidFill>
                <a:latin typeface="Noto Sans"/>
                <a:ea typeface="Noto Sans"/>
                <a:cs typeface="Noto Sans"/>
              </a:rPr>
              <a:t>Компании с историей закупок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CAC4AD2-AEC0-4E1D-9D6C-C11EEF31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765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BDD1C7"/>
                </a:solidFill>
                <a:latin typeface="Noto Sans"/>
                <a:ea typeface="Noto Sans"/>
                <a:cs typeface="Noto Sans"/>
              </a:defRPr>
            </a:pPr>
            <a:r>
              <a:rPr sz="2700" b="0">
                <a:solidFill>
                  <a:srgbClr val="BDD1C7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E57B31F-1D8E-4668-B8B1-38AB5C2E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81400"/>
            <a:ext cx="333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Профиль партнёра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B2F888E-7195-4726-A9C5-F2FE9F83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86275"/>
            <a:ext cx="333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DD1C7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BDD1C7"/>
                </a:solidFill>
                <a:latin typeface="Noto Sans"/>
                <a:ea typeface="Noto Sans"/>
                <a:cs typeface="Noto Sans"/>
              </a:rPr>
              <a:t>Ассортимент, регулярность</a:t>
            </a:r>
          </a:p>
          <a:p xmlns:a="http://schemas.openxmlformats.org/drawingml/2006/main">
            <a:pPr algn="l">
              <a:defRPr sz="1800" b="0">
                <a:solidFill>
                  <a:srgbClr val="BDD1C7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BDD1C7"/>
                </a:solidFill>
                <a:latin typeface="Noto Sans"/>
                <a:ea typeface="Noto Sans"/>
                <a:cs typeface="Noto Sans"/>
              </a:rPr>
              <a:t>и торговые связи</a:t>
            </a:r>
          </a:p>
        </p:txBody>
      </p:sp>
      <p:sp>
        <p:nvSpPr>
          <p:cNvPr id="13" name="conclusion">
            <a:extLst xmlns:a="http://schemas.openxmlformats.org/drawingml/2006/main">
              <a:ext uri="{FF2B5EF4-FFF2-40B4-BE49-F238E27FC236}">
                <a16:creationId xmlns:a16="http://schemas.microsoft.com/office/drawing/2014/main" id="{C1FC3FB8-C4C8-421C-AE9E-03AF3F3F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История закупок помогает выбрать компании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для предметного партнёрского предложения.</a:t>
            </a:r>
          </a:p>
        </p:txBody>
      </p:sp>
    </p:spTree>
    <p:extLst>
      <p:ext uri="{BB962C8B-B14F-4D97-AF65-F5344CB8AC3E}">
        <p14:creationId xmlns:p14="http://schemas.microsoft.com/office/powerpoint/2010/main" val="147014984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rand">
            <a:extLst xmlns:a="http://schemas.openxmlformats.org/drawingml/2006/main">
              <a:ext uri="{FF2B5EF4-FFF2-40B4-BE49-F238E27FC236}">
                <a16:creationId xmlns:a16="http://schemas.microsoft.com/office/drawing/2014/main" id="{E939DF56-95A6-4888-AF14-235249E1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Axcend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D060DB64-4DC5-47FE-B964-897B5552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429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13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71277F-FBC2-48FA-8C48-35F2ACE1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345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Ассортимент, поставщики</a:t>
            </a:r>
          </a:p>
          <a:p xmlns:a="http://schemas.openxmlformats.org/drawingml/2006/main">
            <a:pPr algn="l">
              <a:defRPr sz="345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345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и изменения закупок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32480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857625"/>
                <a:gridCol w="7115175"/>
              </a:tblGrid>
              <a:tr h="504825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586D66"/>
                          </a:solidFill>
                          <a:latin typeface="Noto Sans"/>
                          <a:ea typeface="Noto Sans"/>
                          <a:cs typeface="Noto Sans"/>
                        </a:rPr>
                        <a:t>Что сопоставить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E8EEE8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586D66"/>
                          </a:solidFill>
                          <a:latin typeface="Noto Sans"/>
                          <a:ea typeface="Noto Sans"/>
                          <a:cs typeface="Noto Sans"/>
                        </a:rPr>
                        <a:t>Что это помогает понять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E8EEE8"/>
                    </a:solidFill>
                  </a:tcPr>
                </a:tc>
              </a:tr>
              <a:tr h="914400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Товары и категории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Какой смежный ассортимент предложить.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Пример: инструменты, аккумуляторы и зарядные устройства.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</a:tr>
              <a:tr h="914400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Поставщики компании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Из каких источников она закупает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и кого можно сравнить между собой.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</a:tr>
              <a:tr h="914400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Связи за разные периоды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7F7F2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Какие поставщики появились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и как изменилась активность действующих.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7F7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954759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rand">
            <a:extLst xmlns:a="http://schemas.openxmlformats.org/drawingml/2006/main">
              <a:ext uri="{FF2B5EF4-FFF2-40B4-BE49-F238E27FC236}">
                <a16:creationId xmlns:a16="http://schemas.microsoft.com/office/drawing/2014/main" id="{8F585B61-96B5-4504-8F8D-56124F57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Axcend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98687C21-9FDE-4B95-86E5-B074BA8C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429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14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169D50-800F-496E-8ED4-E44DF877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345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Обращение на основе</a:t>
            </a:r>
          </a:p>
          <a:p xmlns:a="http://schemas.openxmlformats.org/drawingml/2006/main">
            <a:pPr algn="l">
              <a:defRPr sz="345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345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торговой истории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31AB006-E08E-408A-9A27-BC7B4A8C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7B65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247B65"/>
                </a:solidFill>
                <a:latin typeface="Noto Sans"/>
                <a:ea typeface="Noto Sans"/>
                <a:cs typeface="Noto Sans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9B0077C-06E3-446C-B95B-34C0B539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86050"/>
            <a:ext cx="4048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225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История операций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8F944E1-3BC9-448A-A12E-7E0A3720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714625"/>
            <a:ext cx="561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Закупки и торговые связи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0167692-409F-4DF1-84CA-D6B06F0B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7B65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247B65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5E33814-3411-4127-BF58-9C7D2A1C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24250"/>
            <a:ext cx="4048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225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Профиль компании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AC93845-1E3B-4862-9527-E069FD92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552825"/>
            <a:ext cx="561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Страна, отрасль и деятельность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048C9D4-A897-48A9-B7CE-2A8C47D0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7B65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247B65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440ACFD-B1C1-4C55-B462-62297756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62450"/>
            <a:ext cx="4048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225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Роль и контакт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881730D-CB5D-4476-BF71-A98FACE2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391025"/>
            <a:ext cx="561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Человек, которому важно ваше предложение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4E60AEE-865D-47E9-B446-92414CBE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7B65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247B65"/>
                </a:solidFill>
                <a:latin typeface="Noto Sans"/>
                <a:ea typeface="Noto Sans"/>
                <a:cs typeface="Noto Sans"/>
              </a:rPr>
              <a:t>04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E12D0E3-1803-449C-8693-870709BB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00650"/>
            <a:ext cx="4048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225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Предметное обращение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FAEFF3F-CAAD-4409-9896-B29EB974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229225"/>
            <a:ext cx="561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Связь вашего предложения с его задачей</a:t>
            </a:r>
          </a:p>
        </p:txBody>
      </p:sp>
    </p:spTree>
    <p:extLst>
      <p:ext uri="{BB962C8B-B14F-4D97-AF65-F5344CB8AC3E}">
        <p14:creationId xmlns:p14="http://schemas.microsoft.com/office/powerpoint/2010/main" val="10076969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23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rand">
            <a:extLst xmlns:a="http://schemas.openxmlformats.org/drawingml/2006/main">
              <a:ext uri="{FF2B5EF4-FFF2-40B4-BE49-F238E27FC236}">
                <a16:creationId xmlns:a16="http://schemas.microsoft.com/office/drawing/2014/main" id="{2FA38F19-76F0-4E8F-8651-1509D6DB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Axcend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0359BF55-E793-4C8B-AEEF-80E61690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429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D1C7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BDD1C7"/>
                </a:solidFill>
                <a:latin typeface="Noto Sans"/>
                <a:ea typeface="Noto Sans"/>
                <a:cs typeface="Noto Sans"/>
              </a:rPr>
              <a:t>15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E19F8AC-CD8B-4B1D-AAFA-DF4DC37E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37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Приоритет покупателей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B78FC6E-4ACA-434E-8EAA-D8A09C09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4667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Давность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1ACE99D-1814-499B-9BF1-2F6F9E0A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38400"/>
            <a:ext cx="561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BDD1C7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BDD1C7"/>
                </a:solidFill>
                <a:latin typeface="Noto Sans"/>
                <a:ea typeface="Noto Sans"/>
                <a:cs typeface="Noto Sans"/>
              </a:rPr>
              <a:t>Когда была последняя операция</a:t>
            </a:r>
          </a:p>
          <a:p xmlns:a="http://schemas.openxmlformats.org/drawingml/2006/main">
            <a:pPr algn="l">
              <a:defRPr sz="1950" b="0">
                <a:solidFill>
                  <a:srgbClr val="BDD1C7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BDD1C7"/>
                </a:solidFill>
                <a:latin typeface="Noto Sans"/>
                <a:ea typeface="Noto Sans"/>
                <a:cs typeface="Noto Sans"/>
              </a:rPr>
              <a:t>по вашему товару?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93D5F08-99CE-42D2-AFFF-80A28E94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4667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Частота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C1B1B61-710F-442E-BCBE-0660B972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00450"/>
            <a:ext cx="561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BDD1C7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BDD1C7"/>
                </a:solidFill>
                <a:latin typeface="Noto Sans"/>
                <a:ea typeface="Noto Sans"/>
                <a:cs typeface="Noto Sans"/>
              </a:rPr>
              <a:t>Как регулярно компания закупает</a:t>
            </a:r>
          </a:p>
          <a:p xmlns:a="http://schemas.openxmlformats.org/drawingml/2006/main">
            <a:pPr algn="l">
              <a:defRPr sz="1950" b="0">
                <a:solidFill>
                  <a:srgbClr val="BDD1C7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BDD1C7"/>
                </a:solidFill>
                <a:latin typeface="Noto Sans"/>
                <a:ea typeface="Noto Sans"/>
                <a:cs typeface="Noto Sans"/>
              </a:rPr>
              <a:t>в выбранном периоде?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4D33528-F976-48E6-8D91-8D77A7D9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4667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Масштаб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930C728-96D1-4368-8DCD-44CC68FB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762500"/>
            <a:ext cx="561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BDD1C7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BDD1C7"/>
                </a:solidFill>
                <a:latin typeface="Noto Sans"/>
                <a:ea typeface="Noto Sans"/>
                <a:cs typeface="Noto Sans"/>
              </a:rPr>
              <a:t>Каковы объём и стоимость закупок?</a:t>
            </a:r>
          </a:p>
        </p:txBody>
      </p:sp>
      <p:sp>
        <p:nvSpPr>
          <p:cNvPr id="10" name="conclusion">
            <a:extLst xmlns:a="http://schemas.openxmlformats.org/drawingml/2006/main">
              <a:ext uri="{FF2B5EF4-FFF2-40B4-BE49-F238E27FC236}">
                <a16:creationId xmlns:a16="http://schemas.microsoft.com/office/drawing/2014/main" id="{8F35AB2B-C45D-43D9-B490-D00552AF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В приоритете компании, чья активность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и масштаб соответствуют вашему предложению.</a:t>
            </a:r>
          </a:p>
        </p:txBody>
      </p:sp>
    </p:spTree>
    <p:extLst>
      <p:ext uri="{BB962C8B-B14F-4D97-AF65-F5344CB8AC3E}">
        <p14:creationId xmlns:p14="http://schemas.microsoft.com/office/powerpoint/2010/main" val="83287909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rand">
            <a:extLst xmlns:a="http://schemas.openxmlformats.org/drawingml/2006/main">
              <a:ext uri="{FF2B5EF4-FFF2-40B4-BE49-F238E27FC236}">
                <a16:creationId xmlns:a16="http://schemas.microsoft.com/office/drawing/2014/main" id="{65797347-D648-4AEE-B17B-A20C4FB8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Axcend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66D4D371-1533-4466-AB94-B99D31F1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429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16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9127583-A2AA-480A-849E-573BF1A3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345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Данные для регулярной</a:t>
            </a:r>
          </a:p>
          <a:p xmlns:a="http://schemas.openxmlformats.org/drawingml/2006/main">
            <a:pPr algn="l">
              <a:defRPr sz="345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345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работы команды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095750"/>
                <a:gridCol w="6877050"/>
              </a:tblGrid>
              <a:tr h="495300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586D66"/>
                          </a:solidFill>
                          <a:latin typeface="Noto Sans"/>
                          <a:ea typeface="Noto Sans"/>
                          <a:cs typeface="Noto Sans"/>
                        </a:rPr>
                        <a:t>Инструмент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E8EEE8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586D66"/>
                          </a:solidFill>
                          <a:latin typeface="Noto Sans"/>
                          <a:ea typeface="Noto Sans"/>
                          <a:cs typeface="Noto Sans"/>
                        </a:rPr>
                        <a:t>Применение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E8EEE8"/>
                    </a:solidFill>
                  </a:tcPr>
                </a:tc>
              </a:tr>
              <a:tr h="685800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Избранное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Компании и сохранённые запросы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</a:tr>
              <a:tr h="685800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Настройки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Период и условия поиска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</a:tr>
              <a:tr h="685800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Отчёты и уведомления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Результаты по расписанию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</a:tr>
              <a:tr h="685800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Выгрузки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7F7F2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Пользовательские таблицы и данные для команды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7F7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614710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rand">
            <a:extLst xmlns:a="http://schemas.openxmlformats.org/drawingml/2006/main">
              <a:ext uri="{FF2B5EF4-FFF2-40B4-BE49-F238E27FC236}">
                <a16:creationId xmlns:a16="http://schemas.microsoft.com/office/drawing/2014/main" id="{3CF41A20-76D0-4181-A6F4-31A66C43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Axcend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0B81EF90-C3D8-4060-989E-0ED0B598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429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17</a:t>
            </a:r>
          </a:p>
        </p:txBody>
      </p:sp>
      <p:sp>
        <p:nvSpPr>
          <p:cNvPr id="3" name="source">
            <a:extLst xmlns:a="http://schemas.openxmlformats.org/drawingml/2006/main">
              <a:ext uri="{FF2B5EF4-FFF2-40B4-BE49-F238E27FC236}">
                <a16:creationId xmlns:a16="http://schemas.microsoft.com/office/drawing/2014/main" id="{03F63FC3-97DC-4F7B-8ECB-D31B0871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Пример из платформы, 31 августа 2026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B27C886-B97A-4AAC-95AD-9ADF2C63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345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Предметный разговор</a:t>
            </a:r>
          </a:p>
          <a:p xmlns:a="http://schemas.openxmlformats.org/drawingml/2006/main">
            <a:pPr algn="l">
              <a:defRPr sz="345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345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с поставщиком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0AB35D3-787C-4584-91B0-DB5C60F2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247B65"/>
                </a:solidFill>
                <a:latin typeface="Noto Sans"/>
                <a:ea typeface="Noto Sans"/>
                <a:cs typeface="Noto Sans"/>
              </a:defRPr>
            </a:pPr>
            <a:r>
              <a:rPr sz="3675" b="1">
                <a:solidFill>
                  <a:srgbClr val="247B65"/>
                </a:solidFill>
                <a:latin typeface="Noto Sans"/>
                <a:ea typeface="Noto Sans"/>
                <a:cs typeface="Noto Sans"/>
              </a:rPr>
              <a:t>PET P633-2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2E97FDF-21D5-4CB5-84E3-B4F1AEA1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457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Bottle AA grade</a:t>
            </a:r>
          </a:p>
          <a:p xmlns:a="http://schemas.openxmlformats.org/drawingml/2006/main">
            <a:pPr algn="l">
              <a:defRPr sz="2025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Вязкость 80 ml/g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6598972-63B2-435E-8523-ADDA045A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Партии 46, 69 и 115 т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DCB6F58-E2C0-4F11-9299-06457BEB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733675"/>
            <a:ext cx="561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225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Вопросы к поставщику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11A536B-9DF6-4897-9B63-4781B9FF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54330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Какую партию вы можете предложить?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9C596DC-8DD1-49C8-B125-42F50EAA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371975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Каковы сроки и условия поставки?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CCD17A9-B20C-4936-AF9B-4DABBE5A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200650"/>
            <a:ext cx="533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Какой будет цена</a:t>
            </a:r>
          </a:p>
          <a:p xmlns:a="http://schemas.openxmlformats.org/drawingml/2006/main">
            <a:pPr algn="l">
              <a:defRPr sz="1950" b="0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по нашей спецификации?</a:t>
            </a:r>
          </a:p>
        </p:txBody>
      </p:sp>
    </p:spTree>
    <p:extLst>
      <p:ext uri="{BB962C8B-B14F-4D97-AF65-F5344CB8AC3E}">
        <p14:creationId xmlns:p14="http://schemas.microsoft.com/office/powerpoint/2010/main" val="168773290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ED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rand">
            <a:extLst xmlns:a="http://schemas.openxmlformats.org/drawingml/2006/main">
              <a:ext uri="{FF2B5EF4-FFF2-40B4-BE49-F238E27FC236}">
                <a16:creationId xmlns:a16="http://schemas.microsoft.com/office/drawing/2014/main" id="{C648A8C0-D0FC-486A-80D8-799B489A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Axcend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41E8479A-1E80-4E50-8FA8-50822761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429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18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092EC0-497B-4EC2-8C12-3F6FFC73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345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Доступ для одной задачи</a:t>
            </a:r>
          </a:p>
          <a:p xmlns:a="http://schemas.openxmlformats.org/drawingml/2006/main">
            <a:pPr algn="l">
              <a:defRPr sz="345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345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и для работы команды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4575AB6-FAEB-4EA7-AA2F-FB337BF2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504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Один вопрос сейчас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978FD2A-BEF2-42BA-9062-60F133EC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52750"/>
            <a:ext cx="5162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Постоянная работа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121A2D8-8EFB-412B-9222-137F0E86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Изучить клиента перед встречей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6AECA45-D647-45EC-ABD2-16F5D93E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14775"/>
            <a:ext cx="516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Пополнять список покупателей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9712978-CA1B-4FB2-8117-D1E4A088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Выбрать поставщиков по товару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B34FBC1-E1E4-4048-B5B4-0229F572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10100"/>
            <a:ext cx="516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Развивать действующих клиентов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2126296-11BA-45A2-B5FF-DC36026D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Сопоставить несколько операций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E9593FA-2914-44B5-998D-FD57D915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305425"/>
            <a:ext cx="516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Исследовать новые направления</a:t>
            </a:r>
          </a:p>
        </p:txBody>
      </p:sp>
    </p:spTree>
    <p:extLst>
      <p:ext uri="{BB962C8B-B14F-4D97-AF65-F5344CB8AC3E}">
        <p14:creationId xmlns:p14="http://schemas.microsoft.com/office/powerpoint/2010/main" val="184875717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rand">
            <a:extLst xmlns:a="http://schemas.openxmlformats.org/drawingml/2006/main">
              <a:ext uri="{FF2B5EF4-FFF2-40B4-BE49-F238E27FC236}">
                <a16:creationId xmlns:a16="http://schemas.microsoft.com/office/drawing/2014/main" id="{AAC627ED-FB28-449C-BE13-EE3D270F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Axcend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F9BE0E12-F6BB-4E80-AAAA-B7559A1F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429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86D6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86D66"/>
                </a:solidFill>
                <a:latin typeface="Noto Sans"/>
                <a:ea typeface="Noto Sans"/>
                <a:cs typeface="Noto Sans"/>
              </a:rPr>
              <a:t>19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EC2604-4430-461A-B257-3E73DFAD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F38"/>
                </a:solidFill>
                <a:latin typeface="Noto Sans"/>
                <a:ea typeface="Noto Sans"/>
                <a:cs typeface="Noto Sans"/>
              </a:defRPr>
            </a:pPr>
            <a:r>
              <a:rPr sz="3450" b="1">
                <a:solidFill>
                  <a:srgbClr val="163F38"/>
                </a:solidFill>
                <a:latin typeface="Noto Sans"/>
                <a:ea typeface="Noto Sans"/>
                <a:cs typeface="Noto Sans"/>
              </a:rPr>
              <a:t>Что входит в полный доступ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1526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886200"/>
                <a:gridCol w="7086600"/>
              </a:tblGrid>
              <a:tr h="495300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586D66"/>
                          </a:solidFill>
                          <a:latin typeface="Noto Sans"/>
                          <a:ea typeface="Noto Sans"/>
                          <a:cs typeface="Noto Sans"/>
                        </a:rPr>
                        <a:t>Возможности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E8EEE8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586D66"/>
                          </a:solidFill>
                          <a:latin typeface="Noto Sans"/>
                          <a:ea typeface="Noto Sans"/>
                          <a:cs typeface="Noto Sans"/>
                        </a:rPr>
                        <a:t>Что изучать и делать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E8EEE8"/>
                    </a:solidFill>
                  </a:tcPr>
                </a:tc>
              </a:tr>
              <a:tr h="876300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Поиск и связи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Покупатели, поставщики, конкуренты,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партнёры и контакты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</a:tr>
              <a:tr h="876300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История и аналитика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Цены, объёмы, динамика, сезонность,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география и транспорт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</a:tr>
              <a:tr h="876300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Работа с данными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Наблюдения, избранное, таблицы,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выгрузки и отчёты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7620">
                      <a:solidFill>
                        <a:srgbClr val="CFDAD3"/>
                      </a:solidFill>
                      <a:prstDash val="solid"/>
                    </a:lnB>
                    <a:solidFill>
                      <a:srgbClr val="F7F7F2"/>
                    </a:solidFill>
                  </a:tcPr>
                </a:tc>
              </a:tr>
              <a:tr h="876300"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Товарные направления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7F7F2"/>
                    </a:solidFill>
                  </a:tcPr>
                </a:tc>
                <a:tc>
                  <a:txBody>
                    <a:bodyPr lIns="152400" tIns="114300" rIns="15240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Товарные коды и тарифная информация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63F38"/>
                          </a:solidFill>
                          <a:latin typeface="Noto Sans"/>
                          <a:ea typeface="Noto Sans"/>
                          <a:cs typeface="Noto Sans"/>
                        </a:rPr>
                        <a:t>для сравнения направлений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CFDAD3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F7F7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439573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23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rand">
            <a:extLst xmlns:a="http://schemas.openxmlformats.org/drawingml/2006/main">
              <a:ext uri="{FF2B5EF4-FFF2-40B4-BE49-F238E27FC236}">
                <a16:creationId xmlns:a16="http://schemas.microsoft.com/office/drawing/2014/main" id="{4CA0A313-F949-40F4-8018-EEB04BF3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Axcend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5269E664-B76E-49CB-B464-46AD0008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429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DD1C7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BDD1C7"/>
                </a:solidFill>
                <a:latin typeface="Noto Sans"/>
                <a:ea typeface="Noto Sans"/>
                <a:cs typeface="Noto Sans"/>
              </a:rPr>
              <a:t>20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BA9251-98E6-49F6-B700-314C2165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33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Доступ к данным и аналитике</a:t>
            </a:r>
          </a:p>
          <a:p xmlns:a="http://schemas.openxmlformats.org/drawingml/2006/main">
            <a:pPr algn="l">
              <a:defRPr sz="33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33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международной торговли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6FB76A8-59F5-4647-8B56-1FD8BEB0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49530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9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9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$500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DE61F6C-D673-490A-B11A-2AA550ED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4572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BDD1C7"/>
                </a:solidFill>
                <a:latin typeface="Noto Sans"/>
                <a:ea typeface="Noto Sans"/>
                <a:cs typeface="Noto Sans"/>
              </a:defRPr>
            </a:pPr>
            <a:r>
              <a:rPr sz="2625" b="0">
                <a:solidFill>
                  <a:srgbClr val="BDD1C7"/>
                </a:solidFill>
                <a:latin typeface="Noto Sans"/>
                <a:ea typeface="Noto Sans"/>
                <a:cs typeface="Noto Sans"/>
              </a:rPr>
              <a:t>в месяц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D768570-FAC5-495A-94CC-F15D9B5E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43200"/>
            <a:ext cx="54768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Полный доступ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к информации платформы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BCF6FCC-0240-468A-8CD4-8C48E361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124325"/>
            <a:ext cx="5476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DD1C7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BDD1C7"/>
                </a:solidFill>
                <a:latin typeface="Noto Sans"/>
                <a:ea typeface="Noto Sans"/>
                <a:cs typeface="Noto Sans"/>
              </a:rPr>
              <a:t>Покупатели и поставщики, история</a:t>
            </a:r>
          </a:p>
          <a:p xmlns:a="http://schemas.openxmlformats.org/drawingml/2006/main">
            <a:pPr algn="l">
              <a:defRPr sz="1875" b="0">
                <a:solidFill>
                  <a:srgbClr val="BDD1C7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BDD1C7"/>
                </a:solidFill>
                <a:latin typeface="Noto Sans"/>
                <a:ea typeface="Noto Sans"/>
                <a:cs typeface="Noto Sans"/>
              </a:rPr>
              <a:t>операций, цены, объёмы</a:t>
            </a:r>
          </a:p>
          <a:p xmlns:a="http://schemas.openxmlformats.org/drawingml/2006/main">
            <a:pPr algn="l">
              <a:defRPr sz="1875" b="0">
                <a:solidFill>
                  <a:srgbClr val="BDD1C7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BDD1C7"/>
                </a:solidFill>
                <a:latin typeface="Noto Sans"/>
                <a:ea typeface="Noto Sans"/>
                <a:cs typeface="Noto Sans"/>
              </a:rPr>
              <a:t>и торговые связи.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1F5917B-EF23-4CBD-A582-2111135B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9725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9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Посмотреть пример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F9F81B8-27AC-4B57-BDF6-C576F529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DD1C7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BDD1C7"/>
                </a:solidFill>
                <a:latin typeface="Noto Sans"/>
                <a:ea typeface="Noto Sans"/>
                <a:cs typeface="Noto Sans"/>
              </a:rPr>
              <a:t>Пришлите название компании</a:t>
            </a:r>
          </a:p>
          <a:p xmlns:a="http://schemas.openxmlformats.org/drawingml/2006/main">
            <a:pPr algn="l">
              <a:defRPr sz="1725" b="0">
                <a:solidFill>
                  <a:srgbClr val="BDD1C7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BDD1C7"/>
                </a:solidFill>
                <a:latin typeface="Noto Sans"/>
                <a:ea typeface="Noto Sans"/>
                <a:cs typeface="Noto Sans"/>
              </a:rPr>
              <a:t>или товара отправителю материала.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678F077-955F-4C25-A263-79FEC863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419725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9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Оформить доступ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8BF819B-1A75-4396-A456-D3519B19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848350"/>
            <a:ext cx="533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DD1C7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BDD1C7"/>
                </a:solidFill>
                <a:latin typeface="Noto Sans"/>
                <a:ea typeface="Noto Sans"/>
                <a:cs typeface="Noto Sans"/>
              </a:rPr>
              <a:t>Ответьте «ДОСТУП»</a:t>
            </a:r>
          </a:p>
          <a:p xmlns:a="http://schemas.openxmlformats.org/drawingml/2006/main">
            <a:pPr algn="l">
              <a:defRPr sz="1725" b="0">
                <a:solidFill>
                  <a:srgbClr val="BDD1C7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BDD1C7"/>
                </a:solidFill>
                <a:latin typeface="Noto Sans"/>
                <a:ea typeface="Noto Sans"/>
                <a:cs typeface="Noto Sans"/>
              </a:rPr>
              <a:t>отправителю материала.</a:t>
            </a:r>
          </a:p>
        </p:txBody>
      </p:sp>
    </p:spTree>
    <p:extLst>
      <p:ext uri="{BB962C8B-B14F-4D97-AF65-F5344CB8AC3E}">
        <p14:creationId xmlns:p14="http://schemas.microsoft.com/office/powerpoint/2010/main" val="2044410728"/>
      </p:ext>
    </p:extLst>
  </p:cSld>
</p:sld>
</file>

<file path=ppt/theme/theme1.xml><?xml version="1.0" encoding="utf-8"?>
<a:theme xmlns:a="http://schemas.openxmlformats.org/drawingml/2006/main" name="ChatGPT">
  <a:themeElements>
    <a:clrScheme name="Axcend Editorial">
      <a:dk1>
        <a:srgbClr val="0F2D27"/>
      </a:dk1>
      <a:lt1>
        <a:srgbClr val="FFFFFF"/>
      </a:lt1>
      <a:dk2>
        <a:srgbClr val="163F38"/>
      </a:dk2>
      <a:lt2>
        <a:srgbClr val="F7F7F2"/>
      </a:lt2>
      <a:accent1>
        <a:srgbClr val="247B65"/>
      </a:accent1>
      <a:accent2>
        <a:srgbClr val="A94D34"/>
      </a:accent2>
      <a:accent3>
        <a:srgbClr val="C6D5BC"/>
      </a:accent3>
      <a:accent4>
        <a:srgbClr val="577B88"/>
      </a:accent4>
      <a:accent5>
        <a:srgbClr val="BCAB89"/>
      </a:accent5>
      <a:accent6>
        <a:srgbClr val="859985"/>
      </a:accent6>
      <a:hlink>
        <a:srgbClr val="247B65"/>
      </a:hlink>
      <a:folHlink>
        <a:srgbClr val="A94D34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xcend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2026-10-05T15:58:27.4020000Z</dcterms:created>
  <dcterms:modified xsi:type="dcterms:W3CDTF">2026-10-05T15:58:27.4030000Z</dcterms:modified>
</coreProperties>
</file>